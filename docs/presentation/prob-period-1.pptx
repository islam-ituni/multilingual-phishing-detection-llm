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9" r:id="rId3"/>
    <p:sldId id="270" r:id="rId4"/>
    <p:sldId id="271" r:id="rId5"/>
    <p:sldId id="257" r:id="rId6"/>
    <p:sldId id="278" r:id="rId7"/>
    <p:sldId id="272" r:id="rId8"/>
    <p:sldId id="273" r:id="rId9"/>
    <p:sldId id="260" r:id="rId10"/>
    <p:sldId id="268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5" r:id="rId19"/>
    <p:sldId id="276" r:id="rId20"/>
    <p:sldId id="27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6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467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69"/>
            <a:ext cx="10566400" cy="4480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69"/>
            <a:ext cx="10566400" cy="4480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ultilingual-phishing-detection-llm.youtrack.cloud/projects/MP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1629524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 smtClean="0">
                <a:solidFill>
                  <a:srgbClr val="2F5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DOCUMENTATION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2173391"/>
            <a:ext cx="10883392" cy="975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</a:t>
            </a:r>
            <a:r>
              <a:rPr lang="en-US" sz="34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</a:t>
            </a:r>
            <a:r>
              <a:rPr lang="en-US" sz="34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r>
              <a:rPr lang="ru-RU" sz="3400" b="1" dirty="0">
                <a:solidFill>
                  <a:srgbClr val="14213D"/>
                </a:solidFill>
              </a:rPr>
              <a:t> </a:t>
            </a:r>
            <a:r>
              <a:rPr lang="en-US" sz="34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</a:t>
            </a:r>
            <a:r>
              <a:rPr lang="en-US" sz="34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12800" y="3310462"/>
            <a:ext cx="10883392" cy="906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Developer: </a:t>
            </a:r>
            <a:r>
              <a:rPr lang="en-US" sz="1600" dirty="0" err="1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Imanbayev</a:t>
            </a:r>
            <a:r>
              <a: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Islam</a:t>
            </a:r>
          </a:p>
          <a:p>
            <a:pPr marL="0" indent="0" algn="l">
              <a:lnSpc>
                <a:spcPts val="2240"/>
              </a:lnSpc>
              <a:buNone/>
            </a:pPr>
            <a:r>
              <a:rPr lang="en-US" sz="160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Group: SE-2404</a:t>
            </a:r>
          </a:p>
          <a:p>
            <a:pPr marL="0" indent="0" algn="l">
              <a:lnSpc>
                <a:spcPts val="2240"/>
              </a:lnSpc>
              <a:buNone/>
            </a:pPr>
            <a:endParaRPr lang="en-US" sz="1600" dirty="0">
              <a:solidFill>
                <a:srgbClr val="14213D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l">
              <a:lnSpc>
                <a:spcPts val="2240"/>
              </a:lnSpc>
              <a:buNone/>
            </a:pPr>
            <a:endParaRPr lang="en-US" sz="1600" dirty="0" smtClean="0">
              <a:solidFill>
                <a:srgbClr val="14213D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l">
              <a:lnSpc>
                <a:spcPts val="2240"/>
              </a:lnSpc>
              <a:buNone/>
            </a:pPr>
            <a:endParaRPr lang="en-US" sz="1600" dirty="0">
              <a:solidFill>
                <a:srgbClr val="14213D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l">
              <a:lnSpc>
                <a:spcPts val="2240"/>
              </a:lnSpc>
              <a:buNone/>
            </a:pPr>
            <a:endParaRPr lang="en-US" sz="1600" dirty="0" smtClean="0">
              <a:solidFill>
                <a:srgbClr val="14213D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l">
              <a:lnSpc>
                <a:spcPts val="2240"/>
              </a:lnSpc>
              <a:buNone/>
            </a:pPr>
            <a:endParaRPr lang="en-US" sz="1600" dirty="0">
              <a:solidFill>
                <a:srgbClr val="14213D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l">
              <a:lnSpc>
                <a:spcPts val="2240"/>
              </a:lnSpc>
              <a:buNone/>
            </a:pPr>
            <a:endParaRPr lang="en-US" sz="1600" dirty="0" smtClean="0">
              <a:solidFill>
                <a:srgbClr val="14213D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8891" y="5385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Supervisor: Zhanna Sadirmekova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389228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 smtClean="0">
                <a:solidFill>
                  <a:srgbClr val="4D56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Astana</a:t>
            </a:r>
            <a:r>
              <a:rPr lang="ru-RU" sz="1600" dirty="0" smtClean="0">
                <a:solidFill>
                  <a:srgbClr val="4D56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smtClean="0">
                <a:solidFill>
                  <a:srgbClr val="4D56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</a:t>
            </a:r>
            <a:r>
              <a:rPr lang="en-US" sz="1600" dirty="0">
                <a:solidFill>
                  <a:srgbClr val="4D56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4466558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F5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github.com/Islam-ITUni/multilingual-phishing-detection-llm</a:t>
            </a:r>
            <a:endParaRPr lang="en-US" sz="1300" dirty="0"/>
          </a:p>
        </p:txBody>
      </p:sp>
      <p:pic>
        <p:nvPicPr>
          <p:cNvPr id="9" name="Picture 2" descr="Astana IT University| Kazakh National H-index Ranki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8891" y="297234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 smtClean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Problem statement text"/>
          <p:cNvSpPr txBox="1"/>
          <p:nvPr/>
        </p:nvSpPr>
        <p:spPr>
          <a:xfrm>
            <a:off x="812800" y="1550000"/>
            <a:ext cx="10566400" cy="4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1400"/>
              </a:spcAft>
            </a:pPr>
            <a:r>
              <a:rPr lang="en-US" sz="1800" b="0" dirty="0">
                <a:solidFill>
                  <a:srgbClr val="1C1F26"/>
                </a:solidFill>
                <a:latin typeface="Segoe UI"/>
              </a:rPr>
              <a:t>Phishing is a common initial-access technique, and the Anti-Phishing Working Group documents large, persistent volumes of </a:t>
            </a:r>
            <a:r>
              <a:rPr lang="en-US" sz="1800" b="0" dirty="0" smtClean="0">
                <a:solidFill>
                  <a:srgbClr val="1C1F26"/>
                </a:solidFill>
                <a:latin typeface="Segoe UI"/>
              </a:rPr>
              <a:t>campaigns. </a:t>
            </a:r>
            <a:r>
              <a:rPr lang="en-US" sz="1800" b="0" dirty="0">
                <a:solidFill>
                  <a:srgbClr val="1C1F26"/>
                </a:solidFill>
                <a:latin typeface="Segoe UI"/>
              </a:rPr>
              <a:t>Filters built on blacklists, hand-written rules or keyword-based ML work best for the languages they were tuned for, mostly English.</a:t>
            </a:r>
          </a:p>
          <a:p>
            <a:pPr marL="0" indent="0" algn="l">
              <a:spcAft>
                <a:spcPts val="2000"/>
              </a:spcAft>
            </a:pPr>
            <a:r>
              <a:rPr lang="en-US" sz="1800" b="0" dirty="0">
                <a:solidFill>
                  <a:srgbClr val="1C1F26"/>
                </a:solidFill>
                <a:latin typeface="Segoe UI"/>
              </a:rPr>
              <a:t>In Kazakhstan, phishing appears in Kazakh, Russian or a mix of both, often impersonating local banks, payment services and government portals. Kazakh is low-resource in </a:t>
            </a:r>
            <a:r>
              <a:rPr lang="en-US" sz="1800" b="0" dirty="0" smtClean="0">
                <a:solidFill>
                  <a:srgbClr val="1C1F26"/>
                </a:solidFill>
                <a:latin typeface="Segoe UI"/>
              </a:rPr>
              <a:t>NLP, </a:t>
            </a:r>
            <a:r>
              <a:rPr lang="en-US" sz="1800" b="0" dirty="0">
                <a:solidFill>
                  <a:srgbClr val="1C1F26"/>
                </a:solidFill>
                <a:latin typeface="Segoe UI"/>
              </a:rPr>
              <a:t>so keyword filters cover its vocabulary and morphology poorly and are easy to evade.</a:t>
            </a:r>
          </a:p>
          <a:p>
            <a:pPr marL="0" indent="0" algn="l"/>
            <a:r>
              <a:rPr lang="en-US" sz="2000" b="1" dirty="0">
                <a:solidFill>
                  <a:srgbClr val="14213D"/>
                </a:solidFill>
                <a:latin typeface="Segoe UI"/>
              </a:rPr>
              <a:t>The problem addressed by this project is the inability of standard spam filters to reliably catch context-rich, multilingual phishing messages written in Kazakh, Russian and English.</a:t>
            </a:r>
          </a:p>
        </p:txBody>
      </p:sp>
      <p:pic>
        <p:nvPicPr>
          <p:cNvPr id="6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98090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aim and objectives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Aim card"/>
          <p:cNvSpPr/>
          <p:nvPr/>
        </p:nvSpPr>
        <p:spPr>
          <a:xfrm>
            <a:off x="812800" y="1500000"/>
            <a:ext cx="10566400" cy="1650000"/>
          </a:xfrm>
          <a:prstGeom prst="roundRect">
            <a:avLst>
              <a:gd name="adj" fmla="val 7630"/>
            </a:avLst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im label"/>
          <p:cNvSpPr txBox="1"/>
          <p:nvPr/>
        </p:nvSpPr>
        <p:spPr>
          <a:xfrm>
            <a:off x="1112800" y="1650000"/>
            <a:ext cx="99664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400" b="1" dirty="0">
                <a:solidFill>
                  <a:srgbClr val="F0A35E"/>
                </a:solidFill>
                <a:latin typeface="Segoe UI"/>
              </a:rPr>
              <a:t>Project aim</a:t>
            </a:r>
          </a:p>
        </p:txBody>
      </p:sp>
      <p:sp>
        <p:nvSpPr>
          <p:cNvPr id="32" name="Aim text"/>
          <p:cNvSpPr txBox="1"/>
          <p:nvPr/>
        </p:nvSpPr>
        <p:spPr>
          <a:xfrm>
            <a:off x="1112800" y="1980000"/>
            <a:ext cx="9966400" cy="1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600" b="0" dirty="0">
                <a:solidFill>
                  <a:srgbClr val="F6F5F1"/>
                </a:solidFill>
                <a:latin typeface="Segoe UI"/>
              </a:rPr>
              <a:t>The aim is to design, implement and evaluate a web-based and API-accessible system that detects phishing messages in Kazakh, Russian and English using large language models and transformer classifiers. It returns an explainable 0–100 risk score and is expected to outperform a Naive Bayes / TF-IDF baseline on a multilingual test set.</a:t>
            </a:r>
          </a:p>
        </p:txBody>
      </p:sp>
      <p:sp>
        <p:nvSpPr>
          <p:cNvPr id="33" name="Objectives card"/>
          <p:cNvSpPr/>
          <p:nvPr/>
        </p:nvSpPr>
        <p:spPr>
          <a:xfrm>
            <a:off x="812800" y="3300000"/>
            <a:ext cx="10566400" cy="26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bjectives label"/>
          <p:cNvSpPr txBox="1"/>
          <p:nvPr/>
        </p:nvSpPr>
        <p:spPr>
          <a:xfrm>
            <a:off x="1002800" y="3450000"/>
            <a:ext cx="101864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400" b="1" dirty="0">
                <a:solidFill>
                  <a:srgbClr val="2F5D9E"/>
                </a:solidFill>
                <a:latin typeface="Segoe UI"/>
              </a:rPr>
              <a:t>Objectives</a:t>
            </a:r>
          </a:p>
        </p:txBody>
      </p:sp>
      <p:sp>
        <p:nvSpPr>
          <p:cNvPr id="35" name="Objectives text"/>
          <p:cNvSpPr txBox="1"/>
          <p:nvPr/>
        </p:nvSpPr>
        <p:spPr>
          <a:xfrm>
            <a:off x="1002800" y="3820000"/>
            <a:ext cx="10186400" cy="2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420000" indent="-420000" algn="l">
              <a:spcAft>
                <a:spcPts val="5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O1  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Review literature on transformers, LLM-based phishing detection and low-resource NLP</a:t>
            </a:r>
          </a:p>
          <a:p>
            <a:pPr marL="420000" indent="-420000" algn="l">
              <a:spcAft>
                <a:spcPts val="5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O2  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Build a labelled KZ / RU / EN dataset with documented provenance</a:t>
            </a:r>
          </a:p>
          <a:p>
            <a:pPr marL="420000" indent="-420000" algn="l">
              <a:spcAft>
                <a:spcPts val="5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O3  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Implement preprocessing: normalisation, language detection, URL extraction, homoglyph handling</a:t>
            </a:r>
          </a:p>
          <a:p>
            <a:pPr marL="420000" indent="-420000" algn="l">
              <a:spcAft>
                <a:spcPts val="5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O4  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Compare Naive Bayes, fine-tuned DistilBERT and an open-source LLM (GPT-4o as offline reference)</a:t>
            </a:r>
          </a:p>
          <a:p>
            <a:pPr marL="420000" indent="-420000" algn="l">
              <a:spcAft>
                <a:spcPts val="5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O5  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Build a FastAPI backend: risk score, label, reasons, API-key auth, PostgreSQL history</a:t>
            </a:r>
          </a:p>
          <a:p>
            <a:pPr marL="420000" indent="-420000" algn="l">
              <a:spcAft>
                <a:spcPts val="5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O6  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Build a minimal web interface for the key user scenarios</a:t>
            </a:r>
          </a:p>
          <a:p>
            <a:pPr marL="420000" indent="-420000" algn="l">
              <a:spcAft>
                <a:spcPts val="5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O7  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Evaluate with Precision, Recall, F1 and FPR per language; report latency and limitations</a:t>
            </a:r>
          </a:p>
        </p:txBody>
      </p:sp>
      <p:pic>
        <p:nvPicPr>
          <p:cNvPr id="11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260410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Relevance of the problem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Rounded Rectangle 23"/>
          <p:cNvSpPr/>
          <p:nvPr/>
        </p:nvSpPr>
        <p:spPr>
          <a:xfrm>
            <a:off x="812800" y="1500000"/>
            <a:ext cx="3375466" cy="3500000"/>
          </a:xfrm>
          <a:prstGeom prst="roundRect">
            <a:avLst>
              <a:gd name="adj" fmla="val 763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4"/>
          <p:cNvSpPr txBox="1"/>
          <p:nvPr/>
        </p:nvSpPr>
        <p:spPr>
          <a:xfrm>
            <a:off x="1002800" y="1670000"/>
            <a:ext cx="299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5D9E"/>
                </a:solidFill>
                <a:latin typeface="Segoe UI"/>
              </a:rPr>
              <a:t>Persistent threat</a:t>
            </a:r>
          </a:p>
        </p:txBody>
      </p:sp>
      <p:sp>
        <p:nvSpPr>
          <p:cNvPr id="8" name="TextBox 25"/>
          <p:cNvSpPr txBox="1"/>
          <p:nvPr/>
        </p:nvSpPr>
        <p:spPr>
          <a:xfrm>
            <a:off x="1002800" y="2020000"/>
            <a:ext cx="2995466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dirty="0">
                <a:solidFill>
                  <a:srgbClr val="1C1F26"/>
                </a:solidFill>
                <a:latin typeface="Segoe UI"/>
              </a:rPr>
              <a:t>The APWG regularly reports high phishing volumes </a:t>
            </a:r>
            <a:r>
              <a:rPr sz="1400" b="0" dirty="0" smtClean="0">
                <a:solidFill>
                  <a:srgbClr val="1C1F26"/>
                </a:solidFill>
                <a:latin typeface="Segoe UI"/>
              </a:rPr>
              <a:t>worldwide. 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Filters based on blacklists, rules or keywords catch known patterns but depend on the languages and campaigns they were built </a:t>
            </a:r>
            <a:r>
              <a:rPr sz="1400" b="0" dirty="0" smtClean="0">
                <a:solidFill>
                  <a:srgbClr val="1C1F26"/>
                </a:solidFill>
                <a:latin typeface="Segoe UI"/>
              </a:rPr>
              <a:t>for. 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In Kazakhstan Kazakh, Russian and English are used side by side, and messages can mix them.</a:t>
            </a:r>
          </a:p>
        </p:txBody>
      </p:sp>
      <p:sp>
        <p:nvSpPr>
          <p:cNvPr id="9" name="Rounded Rectangle 26"/>
          <p:cNvSpPr/>
          <p:nvPr/>
        </p:nvSpPr>
        <p:spPr>
          <a:xfrm>
            <a:off x="4408266" y="1500000"/>
            <a:ext cx="3375466" cy="3500000"/>
          </a:xfrm>
          <a:prstGeom prst="roundRect">
            <a:avLst>
              <a:gd name="adj" fmla="val 763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27"/>
          <p:cNvSpPr txBox="1"/>
          <p:nvPr/>
        </p:nvSpPr>
        <p:spPr>
          <a:xfrm>
            <a:off x="4598266" y="1670000"/>
            <a:ext cx="299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5D9E"/>
                </a:solidFill>
                <a:latin typeface="Segoe UI"/>
              </a:rPr>
              <a:t>Kazakh is low-resource</a:t>
            </a:r>
          </a:p>
        </p:txBody>
      </p:sp>
      <p:sp>
        <p:nvSpPr>
          <p:cNvPr id="11" name="TextBox 28"/>
          <p:cNvSpPr txBox="1"/>
          <p:nvPr/>
        </p:nvSpPr>
        <p:spPr>
          <a:xfrm>
            <a:off x="4598266" y="2020000"/>
            <a:ext cx="2995466" cy="193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dirty="0">
                <a:solidFill>
                  <a:srgbClr val="1C1F26"/>
                </a:solidFill>
                <a:latin typeface="Segoe UI"/>
              </a:rPr>
              <a:t>NLP support is very uneven across </a:t>
            </a:r>
            <a:r>
              <a:rPr sz="1400" b="0" dirty="0" smtClean="0">
                <a:solidFill>
                  <a:srgbClr val="1C1F26"/>
                </a:solidFill>
                <a:latin typeface="Segoe UI"/>
              </a:rPr>
              <a:t>languages; 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low-resource ones need transfer learning and </a:t>
            </a:r>
            <a:r>
              <a:rPr sz="1400" b="0" dirty="0" smtClean="0">
                <a:solidFill>
                  <a:srgbClr val="1C1F26"/>
                </a:solidFill>
                <a:latin typeface="Segoe UI"/>
              </a:rPr>
              <a:t>augmentation. 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Kazakh datasets are still </a:t>
            </a:r>
            <a:r>
              <a:rPr sz="1400" b="0" dirty="0" smtClean="0">
                <a:solidFill>
                  <a:srgbClr val="1C1F26"/>
                </a:solidFill>
                <a:latin typeface="Segoe UI"/>
              </a:rPr>
              <a:t>emerging, 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and Llama 3.1 and GPT-4 leave room for improvement in </a:t>
            </a:r>
            <a:r>
              <a:rPr sz="1400" b="0" dirty="0" smtClean="0">
                <a:solidFill>
                  <a:srgbClr val="1C1F26"/>
                </a:solidFill>
                <a:latin typeface="Segoe UI"/>
              </a:rPr>
              <a:t>Kazakh. 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English-</a:t>
            </a:r>
            <a:r>
              <a:rPr sz="1400" b="0" dirty="0" err="1">
                <a:solidFill>
                  <a:srgbClr val="1C1F26"/>
                </a:solidFill>
                <a:latin typeface="Segoe UI"/>
              </a:rPr>
              <a:t>centred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 tools are likely to cover it less well; the project tests this experimentally.</a:t>
            </a:r>
          </a:p>
        </p:txBody>
      </p:sp>
      <p:sp>
        <p:nvSpPr>
          <p:cNvPr id="12" name="Rounded Rectangle 29"/>
          <p:cNvSpPr/>
          <p:nvPr/>
        </p:nvSpPr>
        <p:spPr>
          <a:xfrm>
            <a:off x="8003732" y="1500000"/>
            <a:ext cx="3375466" cy="3500000"/>
          </a:xfrm>
          <a:prstGeom prst="roundRect">
            <a:avLst>
              <a:gd name="adj" fmla="val 763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30"/>
          <p:cNvSpPr txBox="1"/>
          <p:nvPr/>
        </p:nvSpPr>
        <p:spPr>
          <a:xfrm>
            <a:off x="8193732" y="1670000"/>
            <a:ext cx="299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5D9E"/>
                </a:solidFill>
                <a:latin typeface="Segoe UI"/>
              </a:rPr>
              <a:t>Smarter attacks</a:t>
            </a:r>
          </a:p>
        </p:txBody>
      </p:sp>
      <p:sp>
        <p:nvSpPr>
          <p:cNvPr id="14" name="TextBox 31"/>
          <p:cNvSpPr txBox="1"/>
          <p:nvPr/>
        </p:nvSpPr>
        <p:spPr>
          <a:xfrm>
            <a:off x="8193732" y="2020000"/>
            <a:ext cx="2995466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dirty="0">
                <a:solidFill>
                  <a:srgbClr val="1C1F26"/>
                </a:solidFill>
                <a:latin typeface="Segoe UI"/>
              </a:rPr>
              <a:t>LLM-written phishing can be highly </a:t>
            </a:r>
            <a:r>
              <a:rPr sz="1400" b="0" dirty="0" smtClean="0">
                <a:solidFill>
                  <a:srgbClr val="1C1F26"/>
                </a:solidFill>
                <a:latin typeface="Segoe UI"/>
              </a:rPr>
              <a:t>convincing, 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and </a:t>
            </a:r>
            <a:r>
              <a:rPr sz="1400" b="0" dirty="0" err="1">
                <a:solidFill>
                  <a:srgbClr val="1C1F26"/>
                </a:solidFill>
                <a:latin typeface="Segoe UI"/>
              </a:rPr>
              <a:t>chatbots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 can be misused to produce it at </a:t>
            </a:r>
            <a:r>
              <a:rPr sz="1400" b="0" dirty="0" smtClean="0">
                <a:solidFill>
                  <a:srgbClr val="1C1F26"/>
                </a:solidFill>
                <a:latin typeface="Segoe UI"/>
              </a:rPr>
              <a:t>scale. </a:t>
            </a:r>
            <a:r>
              <a:rPr sz="1400" b="0" dirty="0">
                <a:solidFill>
                  <a:srgbClr val="1C1F26"/>
                </a:solidFill>
                <a:latin typeface="Segoe UI"/>
              </a:rPr>
              <a:t>Such text lacks the typos that filters and users rely on. LLMs can also understand context and intent, with promising detection and </a:t>
            </a:r>
            <a:r>
              <a:rPr sz="1400" b="0" dirty="0" smtClean="0">
                <a:solidFill>
                  <a:srgbClr val="1C1F26"/>
                </a:solidFill>
                <a:latin typeface="Segoe UI"/>
              </a:rPr>
              <a:t>explanations.</a:t>
            </a:r>
            <a:endParaRPr sz="1400" b="0" dirty="0">
              <a:solidFill>
                <a:srgbClr val="1C1F26"/>
              </a:solidFill>
              <a:latin typeface="Segoe UI"/>
            </a:endParaRPr>
          </a:p>
        </p:txBody>
      </p:sp>
      <p:sp>
        <p:nvSpPr>
          <p:cNvPr id="15" name="Rounded Rectangle 32"/>
          <p:cNvSpPr/>
          <p:nvPr/>
        </p:nvSpPr>
        <p:spPr>
          <a:xfrm>
            <a:off x="812800" y="5250000"/>
            <a:ext cx="10566400" cy="640000"/>
          </a:xfrm>
          <a:prstGeom prst="roundRect">
            <a:avLst>
              <a:gd name="adj" fmla="val 763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33"/>
          <p:cNvSpPr txBox="1"/>
          <p:nvPr/>
        </p:nvSpPr>
        <p:spPr>
          <a:xfrm>
            <a:off x="1062800" y="5250000"/>
            <a:ext cx="100664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0A35E"/>
                </a:solidFill>
                <a:latin typeface="Segoe UI"/>
              </a:rPr>
              <a:t>Relevance: </a:t>
            </a:r>
            <a:r>
              <a:rPr sz="1400" b="0">
                <a:solidFill>
                  <a:srgbClr val="F6F5F1"/>
                </a:solidFill>
                <a:latin typeface="Segoe UI"/>
              </a:rPr>
              <a:t>a system that detects phishing by meaning rather than keywords, and covers Kazakh, Russian and English, addresses a real gap.</a:t>
            </a:r>
          </a:p>
        </p:txBody>
      </p:sp>
      <p:pic>
        <p:nvPicPr>
          <p:cNvPr id="17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29122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pic>
        <p:nvPicPr>
          <p:cNvPr id="19" name="Picture 2" descr="Astana IT University| Kazakh National H-index Ranki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45410"/>
            <a:ext cx="2263140" cy="1164590"/>
          </a:xfrm>
          <a:prstGeom prst="rect">
            <a:avLst/>
          </a:prstGeom>
          <a:noFill/>
        </p:spPr>
      </p:pic>
      <p:sp>
        <p:nvSpPr>
          <p:cNvPr id="30" name="Outcome card 1"/>
          <p:cNvSpPr/>
          <p:nvPr/>
        </p:nvSpPr>
        <p:spPr>
          <a:xfrm>
            <a:off x="812800" y="1500000"/>
            <a:ext cx="3375466" cy="21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utcome title 1"/>
          <p:cNvSpPr txBox="1"/>
          <p:nvPr/>
        </p:nvSpPr>
        <p:spPr>
          <a:xfrm>
            <a:off x="1002800" y="1690000"/>
            <a:ext cx="2995466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Working prototype</a:t>
            </a:r>
          </a:p>
        </p:txBody>
      </p:sp>
      <p:sp>
        <p:nvSpPr>
          <p:cNvPr id="32" name="Outcome text 1"/>
          <p:cNvSpPr txBox="1"/>
          <p:nvPr/>
        </p:nvSpPr>
        <p:spPr>
          <a:xfrm>
            <a:off x="1002800" y="2140000"/>
            <a:ext cx="2995466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600" b="0" dirty="0">
                <a:solidFill>
                  <a:srgbClr val="1C1F26"/>
                </a:solidFill>
                <a:latin typeface="Segoe UI"/>
              </a:rPr>
              <a:t>REST API (POST /api/v1/analyze) and web UI returning a label, a 0–100 risk score and reasons</a:t>
            </a:r>
          </a:p>
        </p:txBody>
      </p:sp>
      <p:sp>
        <p:nvSpPr>
          <p:cNvPr id="33" name="Outcome card 2"/>
          <p:cNvSpPr/>
          <p:nvPr/>
        </p:nvSpPr>
        <p:spPr>
          <a:xfrm>
            <a:off x="4408266" y="1500000"/>
            <a:ext cx="3375466" cy="21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utcome title 2"/>
          <p:cNvSpPr txBox="1"/>
          <p:nvPr/>
        </p:nvSpPr>
        <p:spPr>
          <a:xfrm>
            <a:off x="4598266" y="1690000"/>
            <a:ext cx="2995466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Labelled dataset</a:t>
            </a:r>
          </a:p>
        </p:txBody>
      </p:sp>
      <p:sp>
        <p:nvSpPr>
          <p:cNvPr id="35" name="Outcome text 2"/>
          <p:cNvSpPr txBox="1"/>
          <p:nvPr/>
        </p:nvSpPr>
        <p:spPr>
          <a:xfrm>
            <a:off x="4598266" y="2140000"/>
            <a:ext cx="2995466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600" b="0" dirty="0">
                <a:solidFill>
                  <a:srgbClr val="1C1F26"/>
                </a:solidFill>
                <a:latin typeface="Segoe UI"/>
              </a:rPr>
              <a:t>Versioned Kazakh, Russian and English messages; Kazakh data extended by back-translation</a:t>
            </a:r>
          </a:p>
        </p:txBody>
      </p:sp>
      <p:sp>
        <p:nvSpPr>
          <p:cNvPr id="36" name="Outcome card 3"/>
          <p:cNvSpPr/>
          <p:nvPr/>
        </p:nvSpPr>
        <p:spPr>
          <a:xfrm>
            <a:off x="8003732" y="1500000"/>
            <a:ext cx="3375466" cy="21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utcome title 3"/>
          <p:cNvSpPr txBox="1"/>
          <p:nvPr/>
        </p:nvSpPr>
        <p:spPr>
          <a:xfrm>
            <a:off x="8193732" y="1690000"/>
            <a:ext cx="2995466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Three detectors</a:t>
            </a:r>
          </a:p>
        </p:txBody>
      </p:sp>
      <p:sp>
        <p:nvSpPr>
          <p:cNvPr id="38" name="Outcome text 3"/>
          <p:cNvSpPr txBox="1"/>
          <p:nvPr/>
        </p:nvSpPr>
        <p:spPr>
          <a:xfrm>
            <a:off x="8193732" y="2140000"/>
            <a:ext cx="2995466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600" b="0" dirty="0">
                <a:solidFill>
                  <a:srgbClr val="1C1F26"/>
                </a:solidFill>
                <a:latin typeface="Segoe UI"/>
              </a:rPr>
              <a:t>Naive Bayes baseline, fine-tuned DistilBERT and a self-hosted LLM</a:t>
            </a:r>
          </a:p>
        </p:txBody>
      </p:sp>
      <p:sp>
        <p:nvSpPr>
          <p:cNvPr id="39" name="Outcome card 4"/>
          <p:cNvSpPr/>
          <p:nvPr/>
        </p:nvSpPr>
        <p:spPr>
          <a:xfrm>
            <a:off x="812800" y="3800000"/>
            <a:ext cx="3375466" cy="21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utcome title 4"/>
          <p:cNvSpPr txBox="1"/>
          <p:nvPr/>
        </p:nvSpPr>
        <p:spPr>
          <a:xfrm>
            <a:off x="1002800" y="3990000"/>
            <a:ext cx="2995466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Detection quality</a:t>
            </a:r>
          </a:p>
        </p:txBody>
      </p:sp>
      <p:sp>
        <p:nvSpPr>
          <p:cNvPr id="41" name="Outcome text 4"/>
          <p:cNvSpPr txBox="1"/>
          <p:nvPr/>
        </p:nvSpPr>
        <p:spPr>
          <a:xfrm>
            <a:off x="1002800" y="4440000"/>
            <a:ext cx="2995466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600" b="0" dirty="0">
                <a:solidFill>
                  <a:srgbClr val="1C1F26"/>
                </a:solidFill>
                <a:latin typeface="Segoe UI"/>
              </a:rPr>
              <a:t>F1 above 92% overall, at least 85% per language, false positives 5% or less</a:t>
            </a:r>
          </a:p>
        </p:txBody>
      </p:sp>
      <p:sp>
        <p:nvSpPr>
          <p:cNvPr id="42" name="Outcome card 5"/>
          <p:cNvSpPr/>
          <p:nvPr/>
        </p:nvSpPr>
        <p:spPr>
          <a:xfrm>
            <a:off x="4408266" y="3800000"/>
            <a:ext cx="3375466" cy="21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utcome title 5"/>
          <p:cNvSpPr txBox="1"/>
          <p:nvPr/>
        </p:nvSpPr>
        <p:spPr>
          <a:xfrm>
            <a:off x="4598266" y="3990000"/>
            <a:ext cx="2995466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Speed</a:t>
            </a:r>
          </a:p>
        </p:txBody>
      </p:sp>
      <p:sp>
        <p:nvSpPr>
          <p:cNvPr id="44" name="Outcome text 5"/>
          <p:cNvSpPr txBox="1"/>
          <p:nvPr/>
        </p:nvSpPr>
        <p:spPr>
          <a:xfrm>
            <a:off x="4598266" y="4440000"/>
            <a:ext cx="2995466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600" b="0" dirty="0">
                <a:solidFill>
                  <a:srgbClr val="1C1F26"/>
                </a:solidFill>
                <a:latin typeface="Segoe UI"/>
              </a:rPr>
              <a:t>95th-percentile latency under 3 s over at least 200 requests</a:t>
            </a:r>
          </a:p>
        </p:txBody>
      </p:sp>
      <p:sp>
        <p:nvSpPr>
          <p:cNvPr id="45" name="Outcome card 6"/>
          <p:cNvSpPr/>
          <p:nvPr/>
        </p:nvSpPr>
        <p:spPr>
          <a:xfrm>
            <a:off x="8003732" y="3800000"/>
            <a:ext cx="3375466" cy="21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utcome title 6"/>
          <p:cNvSpPr txBox="1"/>
          <p:nvPr/>
        </p:nvSpPr>
        <p:spPr>
          <a:xfrm>
            <a:off x="8193732" y="3990000"/>
            <a:ext cx="2995466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Explainable verdicts</a:t>
            </a:r>
          </a:p>
        </p:txBody>
      </p:sp>
      <p:sp>
        <p:nvSpPr>
          <p:cNvPr id="47" name="Outcome text 6"/>
          <p:cNvSpPr txBox="1"/>
          <p:nvPr/>
        </p:nvSpPr>
        <p:spPr>
          <a:xfrm>
            <a:off x="8193732" y="4440000"/>
            <a:ext cx="2995466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600" b="0" dirty="0">
                <a:solidFill>
                  <a:srgbClr val="1C1F26"/>
                </a:solidFill>
                <a:latin typeface="Segoe UI"/>
              </a:rPr>
              <a:t>1–5 reasons in the input language; models run locally by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pic>
        <p:nvPicPr>
          <p:cNvPr id="19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45410"/>
            <a:ext cx="2263140" cy="1164590"/>
          </a:xfrm>
          <a:prstGeom prst="rect">
            <a:avLst/>
          </a:prstGeom>
          <a:noFill/>
        </p:spPr>
      </p:pic>
      <p:sp>
        <p:nvSpPr>
          <p:cNvPr id="30" name="In scope card"/>
          <p:cNvSpPr/>
          <p:nvPr/>
        </p:nvSpPr>
        <p:spPr>
          <a:xfrm>
            <a:off x="812800" y="1500000"/>
            <a:ext cx="5153200" cy="44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n scope label"/>
          <p:cNvSpPr txBox="1"/>
          <p:nvPr/>
        </p:nvSpPr>
        <p:spPr>
          <a:xfrm>
            <a:off x="1002800" y="1670000"/>
            <a:ext cx="47732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In scope</a:t>
            </a:r>
          </a:p>
        </p:txBody>
      </p:sp>
      <p:sp>
        <p:nvSpPr>
          <p:cNvPr id="32" name="In scope text"/>
          <p:cNvSpPr txBox="1"/>
          <p:nvPr/>
        </p:nvSpPr>
        <p:spPr>
          <a:xfrm>
            <a:off x="1002800" y="2130000"/>
            <a:ext cx="4773200" cy="3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Text phishing in e-mail bodies and subjects and SMS-like messages in KZ, RU and EN</a:t>
            </a:r>
          </a:p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URL extraction and heuristic analysis; optional public blacklist lookup</a:t>
            </a:r>
          </a:p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REST API, minimal web UI, history and feedback storage</a:t>
            </a:r>
          </a:p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Prompt-based and fine-tuned (LoRA / DistilBERT) approaches</a:t>
            </a:r>
          </a:p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Evaluation on a curated test set against a baseline</a:t>
            </a:r>
          </a:p>
        </p:txBody>
      </p:sp>
      <p:sp>
        <p:nvSpPr>
          <p:cNvPr id="33" name="Out of scope card"/>
          <p:cNvSpPr/>
          <p:nvPr/>
        </p:nvSpPr>
        <p:spPr>
          <a:xfrm>
            <a:off x="6226000" y="1500000"/>
            <a:ext cx="5153200" cy="44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ut of scope label"/>
          <p:cNvSpPr txBox="1"/>
          <p:nvPr/>
        </p:nvSpPr>
        <p:spPr>
          <a:xfrm>
            <a:off x="6416000" y="1670000"/>
            <a:ext cx="47732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Out of scope</a:t>
            </a:r>
          </a:p>
        </p:txBody>
      </p:sp>
      <p:sp>
        <p:nvSpPr>
          <p:cNvPr id="35" name="Out of scope text"/>
          <p:cNvSpPr txBox="1"/>
          <p:nvPr/>
        </p:nvSpPr>
        <p:spPr>
          <a:xfrm>
            <a:off x="6416000" y="2130000"/>
            <a:ext cx="4773200" cy="3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Image, QR-code and attachment phishing; voice phishing (vishing)</a:t>
            </a:r>
          </a:p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Full website crawling, rendering or screenshot analysis</a:t>
            </a:r>
          </a:p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Production-grade mail gateway, SMTP/MTA deployment, enterprise SSO</a:t>
            </a:r>
          </a:p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Real-time training on live customer mail; large-scale model pre-training</a:t>
            </a:r>
          </a:p>
          <a:p>
            <a:pPr marL="285750" indent="-285750" algn="l">
              <a:spcAft>
                <a:spcPts val="1000"/>
              </a:spcAft>
              <a:buClr>
                <a:srgbClr val="2F5D9E"/>
              </a:buClr>
              <a:buFont typeface="Arial"/>
              <a:buChar char="•"/>
            </a:pPr>
            <a:r>
              <a:rPr lang="en-US" sz="1600" b="0" dirty="0">
                <a:solidFill>
                  <a:srgbClr val="1C1F26"/>
                </a:solidFill>
                <a:latin typeface="Segoe UI"/>
              </a:rPr>
              <a:t>Training a Kazakh LLM from scratch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Literature review: models and resources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graphicFrame>
        <p:nvGraphicFramePr>
          <p:cNvPr id="6" name="Table 23"/>
          <p:cNvGraphicFramePr>
            <a:graphicFrameLocks noGrp="1"/>
          </p:cNvGraphicFramePr>
          <p:nvPr/>
        </p:nvGraphicFramePr>
        <p:xfrm>
          <a:off x="812800" y="1500000"/>
          <a:ext cx="10566400" cy="3980000"/>
        </p:xfrm>
        <a:graphic>
          <a:graphicData uri="http://schemas.openxmlformats.org/drawingml/2006/table">
            <a:tbl>
              <a:tblPr/>
              <a:tblGrid>
                <a:gridCol w="700000"/>
                <a:gridCol w="1600000"/>
                <a:gridCol w="2450000"/>
                <a:gridCol w="3100000"/>
                <a:gridCol w="2716400"/>
              </a:tblGrid>
              <a:tr h="38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6F5F1"/>
                          </a:solidFill>
                          <a:latin typeface="Segoe UI"/>
                        </a:rPr>
                        <a:t>Ref.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F1"/>
                          </a:solidFill>
                          <a:latin typeface="Segoe UI"/>
                        </a:rPr>
                        <a:t>Study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F1"/>
                          </a:solidFill>
                          <a:latin typeface="Segoe UI"/>
                        </a:rPr>
                        <a:t>Method and model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F1"/>
                          </a:solidFill>
                          <a:latin typeface="Segoe UI"/>
                        </a:rPr>
                        <a:t>Key finding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F1"/>
                          </a:solidFill>
                          <a:latin typeface="Segoe UI"/>
                        </a:rPr>
                        <a:t>Relevance to project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[1]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Devlin et al., 2019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BERT: masked-LM pre-training, then fine-tuning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Deep bidirectional pre-training gives strong classification features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Transformer encoder foundation for the baseline classifier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[3]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Sanh et al., 2019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DistilBERT via knowledge distillation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Keeps 97% of BERT’s capability, 40% smaller, 60% faster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Fast first-stage classifier for the 3-second target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[4]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Conneau et al., 2020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XLM-RoBERTa, 100 languages incl. Kazakh and Russian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Multilingual pre-training transfers well to low-resource languages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Justifies multilingual checkpoints for KZ and RU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[7]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Salloum et al., 2022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C1F26"/>
                          </a:solidFill>
                          <a:latin typeface="Segoe UI"/>
                        </a:rPr>
                        <a:t>Systematic review of NLP for phishing e-mail detection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Shift from handcrafted features to deep transformer models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Domain overview and benchmark feature approaches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[21]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Sahingoz et al., 2019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Random Forest on NLP and lexical URL features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Lexical URL features with tree ensembles exceed 97% accuracy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Guides the URL Analyzer heuristics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[14]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Joshi et al., 2020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Survey of language resources in NLP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Severe resource disparity; Kazakh sits in lower-resource tiers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Justifies treating Kazakh as low-resource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230505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Literature review: LLMs </a:t>
            </a:r>
            <a:r>
              <a:rPr lang="en-US" sz="32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</a:t>
            </a: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graphicFrame>
        <p:nvGraphicFramePr>
          <p:cNvPr id="6" name="Table 23"/>
          <p:cNvGraphicFramePr>
            <a:graphicFrameLocks noGrp="1"/>
          </p:cNvGraphicFramePr>
          <p:nvPr/>
        </p:nvGraphicFramePr>
        <p:xfrm>
          <a:off x="812800" y="1500000"/>
          <a:ext cx="10566400" cy="3980000"/>
        </p:xfrm>
        <a:graphic>
          <a:graphicData uri="http://schemas.openxmlformats.org/drawingml/2006/table">
            <a:tbl>
              <a:tblPr/>
              <a:tblGrid>
                <a:gridCol w="700000"/>
                <a:gridCol w="1600000"/>
                <a:gridCol w="2450000"/>
                <a:gridCol w="3100000"/>
                <a:gridCol w="2716400"/>
              </a:tblGrid>
              <a:tr h="3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F1"/>
                          </a:solidFill>
                          <a:latin typeface="Segoe UI"/>
                        </a:rPr>
                        <a:t>Ref.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F1"/>
                          </a:solidFill>
                          <a:latin typeface="Segoe UI"/>
                        </a:rPr>
                        <a:t>Study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F1"/>
                          </a:solidFill>
                          <a:latin typeface="Segoe UI"/>
                        </a:rPr>
                        <a:t>Method and model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F1"/>
                          </a:solidFill>
                          <a:latin typeface="Segoe UI"/>
                        </a:rPr>
                        <a:t>Key finding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F1"/>
                          </a:solidFill>
                          <a:latin typeface="Segoe UI"/>
                        </a:rPr>
                        <a:t>Relevance to project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[8]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Heiding et al., 2023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GPT-4, Claude, LLaMA prompting vs humans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LLMs write persuasive spear-phishing and detect intent accurately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Motivates LLMs for intent detection and risk reasoning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[9]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Koide et al., 2024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ChatSpamDetector (GPT-4 prompts)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99.7% accuracy with natural-language explanations in JSON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Precedent for JSON risk scores and explanations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[10]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Roy et al., 2023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ScamLLM: adversarial prompt testing of chatbots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Chatbots can be manipulated into evasive phishing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Defines the LLM-generated phishing threat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[13]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Hu et al., 2022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LoRA parameter-efficient fine-tuning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Frozen weights plus low-rank matrices cut memory about 3x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Lightweight path to adapt self-hosted LLMs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[17]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Togmanov et al., 2025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KazMMLU benchmark (Kazakh and Russian)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Llama 3.1 and GPT-4 lose accuracy on Kazakh tasks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Zero-shot Kazakh risk; needs local evaluation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[18]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F26"/>
                          </a:solidFill>
                          <a:latin typeface="Segoe UI"/>
                        </a:rPr>
                        <a:t>Llama Team, 2024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Llama 3 open-weight models (8B / 70B)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Instruction following and multi-step reasoning at accessible scale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F26"/>
                          </a:solidFill>
                          <a:latin typeface="Segoe UI"/>
                        </a:rPr>
                        <a:t>Primary open-weight candidate for the second tier</a:t>
                      </a:r>
                    </a:p>
                  </a:txBody>
                  <a:tcPr marT="60000" marB="60000">
                    <a:lnL w="6350">
                      <a:solidFill>
                        <a:srgbClr val="C4C4C0"/>
                      </a:solidFill>
                    </a:lnL>
                    <a:lnR w="6350">
                      <a:solidFill>
                        <a:srgbClr val="C4C4C0"/>
                      </a:solidFill>
                    </a:lnR>
                    <a:lnT w="6350">
                      <a:solidFill>
                        <a:srgbClr val="C4C4C0"/>
                      </a:solidFill>
                    </a:lnT>
                    <a:lnB w="6350">
                      <a:solidFill>
                        <a:srgbClr val="C4C4C0"/>
                      </a:solidFill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24"/>
          <p:cNvSpPr/>
          <p:nvPr/>
        </p:nvSpPr>
        <p:spPr>
          <a:xfrm>
            <a:off x="812800" y="5650000"/>
            <a:ext cx="10566400" cy="470000"/>
          </a:xfrm>
          <a:prstGeom prst="roundRect">
            <a:avLst>
              <a:gd name="adj" fmla="val 763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25"/>
          <p:cNvSpPr txBox="1"/>
          <p:nvPr/>
        </p:nvSpPr>
        <p:spPr>
          <a:xfrm>
            <a:off x="1062800" y="5650000"/>
            <a:ext cx="100664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A35E"/>
                </a:solidFill>
                <a:latin typeface="Segoe UI"/>
              </a:rPr>
              <a:t>Research gap: </a:t>
            </a:r>
            <a:r>
              <a:rPr sz="1300" b="0">
                <a:solidFill>
                  <a:srgbClr val="F6F5F1"/>
                </a:solidFill>
                <a:latin typeface="Segoe UI"/>
              </a:rPr>
              <a:t>no work found in the reviewed sources evaluates LLM-based phishing detection jointly on Kazakh, Russian and English with an explainable risk score.</a:t>
            </a:r>
          </a:p>
        </p:txBody>
      </p:sp>
      <p:pic>
        <p:nvPicPr>
          <p:cNvPr id="9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66213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1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69"/>
              </a:lnSpc>
              <a:buNone/>
            </a:pPr>
            <a:r>
              <a:rPr lang="en-US" sz="279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system comparison</a:t>
            </a:r>
            <a:endParaRPr lang="en-US" sz="279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368046"/>
              </p:ext>
            </p:extLst>
          </p:nvPr>
        </p:nvGraphicFramePr>
        <p:xfrm>
          <a:off x="824089" y="1440129"/>
          <a:ext cx="10555110" cy="3988420"/>
        </p:xfrm>
        <a:graphic>
          <a:graphicData uri="http://schemas.openxmlformats.org/drawingml/2006/table">
            <a:tbl>
              <a:tblPr/>
              <a:tblGrid>
                <a:gridCol w="2452198"/>
                <a:gridCol w="2025728"/>
                <a:gridCol w="2025728"/>
                <a:gridCol w="2025728"/>
                <a:gridCol w="2025728"/>
              </a:tblGrid>
              <a:tr h="665956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Criterion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Rule-based </a:t>
                      </a:r>
                      <a:r>
                        <a:rPr lang="en-US" sz="1415" b="1" dirty="0" err="1" smtClean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SpamAssassin</a:t>
                      </a:r>
                      <a:endParaRPr lang="en-US" sz="1415" dirty="0">
                        <a:solidFill>
                          <a:schemeClr val="bg1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Classic ML (RF + TF-IDF)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Commercial (Proofpoint)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 err="1" smtClean="0">
                          <a:solidFill>
                            <a:schemeClr val="bg1"/>
                          </a:solidFill>
                          <a:latin typeface="Segoe UI" charset="0"/>
                          <a:ea typeface="Segoe UI" charset="0"/>
                          <a:cs typeface="Segoe UI" charset="0"/>
                        </a:rPr>
                        <a:t>PhishGuard</a:t>
                      </a:r>
                      <a:r>
                        <a:rPr lang="en-US" sz="1415" b="1" baseline="0" dirty="0" smtClean="0">
                          <a:solidFill>
                            <a:schemeClr val="bg1"/>
                          </a:solidFill>
                          <a:latin typeface="Segoe UI" charset="0"/>
                          <a:ea typeface="Segoe UI" charset="0"/>
                          <a:cs typeface="Segoe UI" charset="0"/>
                        </a:rPr>
                        <a:t> ML</a:t>
                      </a:r>
                      <a:endParaRPr lang="en-US" sz="1415" dirty="0">
                        <a:solidFill>
                          <a:schemeClr val="bg1"/>
                        </a:solidFill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5308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Kazakh support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Low–medium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 (target)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308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Russian / English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Medium–high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Medium–high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(target)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308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 and intent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low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Medium–high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308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Adaptation to campaigns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Slow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Slow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Medium–fast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308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Explainability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Low–medium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Low–medium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(target)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308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Latency / throughput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308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Privacy / on-premises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Low–medium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308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 and maintenance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Labour-heavy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Retraining effort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licence fees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GPU cost</a:t>
                      </a:r>
                      <a:endParaRPr lang="en-US" sz="141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5657146"/>
            <a:ext cx="10883392" cy="21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5"/>
              </a:lnSpc>
              <a:buNone/>
            </a:pPr>
            <a:endParaRPr lang="en-US" sz="1054" dirty="0"/>
          </a:p>
        </p:txBody>
      </p:sp>
      <p:sp>
        <p:nvSpPr>
          <p:cNvPr id="6" name="Text 2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pic>
        <p:nvPicPr>
          <p:cNvPr id="8" name="Picture 2" descr="Astana IT University| Kazakh National H-index Ranki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98933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comparison: conclusion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Rounded Rectangle 23"/>
          <p:cNvSpPr/>
          <p:nvPr/>
        </p:nvSpPr>
        <p:spPr>
          <a:xfrm>
            <a:off x="812800" y="1500000"/>
            <a:ext cx="3375466" cy="2700000"/>
          </a:xfrm>
          <a:prstGeom prst="roundRect">
            <a:avLst>
              <a:gd name="adj" fmla="val 763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4"/>
          <p:cNvSpPr txBox="1"/>
          <p:nvPr/>
        </p:nvSpPr>
        <p:spPr>
          <a:xfrm>
            <a:off x="1002800" y="1670000"/>
            <a:ext cx="299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5D9E"/>
                </a:solidFill>
                <a:latin typeface="Segoe UI"/>
              </a:rPr>
              <a:t>Rule-based and classic ML</a:t>
            </a:r>
          </a:p>
        </p:txBody>
      </p:sp>
      <p:sp>
        <p:nvSpPr>
          <p:cNvPr id="8" name="TextBox 25"/>
          <p:cNvSpPr txBox="1"/>
          <p:nvPr/>
        </p:nvSpPr>
        <p:spPr>
          <a:xfrm>
            <a:off x="1002800" y="2020000"/>
            <a:ext cx="2995466" cy="19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C1F26"/>
                </a:solidFill>
                <a:latin typeface="Segoe UI"/>
              </a:rPr>
              <a:t>Fast and private, but weak semantic understanding and manual work for every language and campaign.</a:t>
            </a:r>
          </a:p>
        </p:txBody>
      </p:sp>
      <p:sp>
        <p:nvSpPr>
          <p:cNvPr id="9" name="Rounded Rectangle 26"/>
          <p:cNvSpPr/>
          <p:nvPr/>
        </p:nvSpPr>
        <p:spPr>
          <a:xfrm>
            <a:off x="4408266" y="1500000"/>
            <a:ext cx="3375466" cy="2700000"/>
          </a:xfrm>
          <a:prstGeom prst="roundRect">
            <a:avLst>
              <a:gd name="adj" fmla="val 763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27"/>
          <p:cNvSpPr txBox="1"/>
          <p:nvPr/>
        </p:nvSpPr>
        <p:spPr>
          <a:xfrm>
            <a:off x="4598266" y="1670000"/>
            <a:ext cx="299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5D9E"/>
                </a:solidFill>
                <a:latin typeface="Segoe UI"/>
              </a:rPr>
              <a:t>Commercial gateways</a:t>
            </a:r>
          </a:p>
        </p:txBody>
      </p:sp>
      <p:sp>
        <p:nvSpPr>
          <p:cNvPr id="11" name="TextBox 28"/>
          <p:cNvSpPr txBox="1"/>
          <p:nvPr/>
        </p:nvSpPr>
        <p:spPr>
          <a:xfrm>
            <a:off x="4598266" y="2020000"/>
            <a:ext cx="2995466" cy="19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C1F26"/>
                </a:solidFill>
                <a:latin typeface="Segoe UI"/>
              </a:rPr>
              <a:t>Broad threat intelligence and strong English/Russian support, but costly, opaque, and Kazakh coverage is not documented.</a:t>
            </a:r>
          </a:p>
        </p:txBody>
      </p:sp>
      <p:sp>
        <p:nvSpPr>
          <p:cNvPr id="12" name="Rounded Rectangle 29"/>
          <p:cNvSpPr/>
          <p:nvPr/>
        </p:nvSpPr>
        <p:spPr>
          <a:xfrm>
            <a:off x="8003732" y="1500000"/>
            <a:ext cx="3375466" cy="2700000"/>
          </a:xfrm>
          <a:prstGeom prst="roundRect">
            <a:avLst>
              <a:gd name="adj" fmla="val 763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30"/>
          <p:cNvSpPr txBox="1"/>
          <p:nvPr/>
        </p:nvSpPr>
        <p:spPr>
          <a:xfrm>
            <a:off x="8193732" y="1670000"/>
            <a:ext cx="299546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5D9E"/>
                </a:solidFill>
                <a:latin typeface="Segoe UI"/>
              </a:rPr>
              <a:t>Proposed system</a:t>
            </a:r>
          </a:p>
        </p:txBody>
      </p:sp>
      <p:sp>
        <p:nvSpPr>
          <p:cNvPr id="14" name="TextBox 31"/>
          <p:cNvSpPr txBox="1"/>
          <p:nvPr/>
        </p:nvSpPr>
        <p:spPr>
          <a:xfrm>
            <a:off x="8193732" y="2020000"/>
            <a:ext cx="2995466" cy="19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C1F26"/>
                </a:solidFill>
                <a:latin typeface="Segoe UI"/>
              </a:rPr>
              <a:t>Trades some latency for contextual understanding and explainability, keeps data local, and targets Kazakh, Russian and English explicitly.</a:t>
            </a:r>
          </a:p>
        </p:txBody>
      </p:sp>
      <p:sp>
        <p:nvSpPr>
          <p:cNvPr id="15" name="Rounded Rectangle 32"/>
          <p:cNvSpPr/>
          <p:nvPr/>
        </p:nvSpPr>
        <p:spPr>
          <a:xfrm>
            <a:off x="812800" y="4500000"/>
            <a:ext cx="10566400" cy="1350000"/>
          </a:xfrm>
          <a:prstGeom prst="roundRect">
            <a:avLst>
              <a:gd name="adj" fmla="val 763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33"/>
          <p:cNvSpPr txBox="1"/>
          <p:nvPr/>
        </p:nvSpPr>
        <p:spPr>
          <a:xfrm>
            <a:off x="1062800" y="4500000"/>
            <a:ext cx="10066400" cy="1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0A35E"/>
                </a:solidFill>
                <a:latin typeface="Segoe UI"/>
              </a:rPr>
              <a:t>Conclusion: </a:t>
            </a:r>
            <a:r>
              <a:rPr sz="1700" b="0">
                <a:solidFill>
                  <a:srgbClr val="F6F5F1"/>
                </a:solidFill>
                <a:latin typeface="Segoe UI"/>
              </a:rPr>
              <a:t>no compared system combines Kazakh support, context understanding, explainability and on-premises privacy. Ratings are preliminary; the proposed-system cells are targets to be confirmed by the evaluation plan.</a:t>
            </a:r>
          </a:p>
        </p:txBody>
      </p:sp>
      <p:pic>
        <p:nvPicPr>
          <p:cNvPr id="17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17152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comparison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499660"/>
          <a:ext cx="10555111" cy="2930172"/>
        </p:xfrm>
        <a:graphic>
          <a:graphicData uri="http://schemas.openxmlformats.org/drawingml/2006/table">
            <a:tbl>
              <a:tblPr/>
              <a:tblGrid>
                <a:gridCol w="2322124"/>
                <a:gridCol w="3799840"/>
                <a:gridCol w="4433147"/>
              </a:tblGrid>
              <a:tr h="448116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Alternatives compared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Choice and reason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01697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 inference engine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Fine-tuned DistilBERT 3.85 · Llama-3 / Gemma-2 3.70 · GPT-4o API 3.05 (weighted score, max 5)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Two tiers: fast DistilBERT first, self-hosted LLM for uncertain cases. GPT-4o only as an offline benchmark (privacy, cost).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25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framework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Django · Flask · FastAPI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FastAPI: native async, automatic OpenAPI docs, Pydantic validation.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2543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MongoDB · SQLite · PostgreSQL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PostgreSQL: relational integrity plus JSONB for model output; SQLite in tests only.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812800" y="4950000"/>
            <a:ext cx="10566400" cy="620000"/>
          </a:xfrm>
          <a:prstGeom prst="roundRect">
            <a:avLst>
              <a:gd name="adj" fmla="val 763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0" rIns="250000" bIns="0" rtlCol="0" anchor="ctr"/>
          <a:lstStyle/>
          <a:p>
            <a:r>
              <a:rPr sz="1600" b="1" dirty="0" smtClean="0">
                <a:solidFill>
                  <a:srgbClr val="F0A35E"/>
                </a:solidFill>
                <a:latin typeface="Segoe UI"/>
              </a:rPr>
              <a:t>Conclusion:</a:t>
            </a:r>
            <a:r>
              <a:rPr lang="en-US" sz="1600" b="1" dirty="0" smtClean="0">
                <a:solidFill>
                  <a:srgbClr val="F0A35E"/>
                </a:solidFill>
                <a:latin typeface="Segoe UI"/>
              </a:rPr>
              <a:t> </a:t>
            </a:r>
            <a:r>
              <a:rPr lang="en-US" sz="1600" dirty="0" smtClean="0"/>
              <a:t>The </a:t>
            </a:r>
            <a:r>
              <a:rPr lang="en-US" sz="1600" dirty="0"/>
              <a:t>selected stack (</a:t>
            </a:r>
            <a:r>
              <a:rPr lang="en-US" sz="1600" dirty="0" err="1"/>
              <a:t>DistilBERT</a:t>
            </a:r>
            <a:r>
              <a:rPr lang="en-US" sz="1600" dirty="0"/>
              <a:t> + local Gemma-2/Llama-3, </a:t>
            </a:r>
            <a:r>
              <a:rPr lang="en-US" sz="1600" dirty="0" err="1"/>
              <a:t>FastAPI</a:t>
            </a:r>
            <a:r>
              <a:rPr lang="en-US" sz="1600" dirty="0"/>
              <a:t>, </a:t>
            </a:r>
            <a:r>
              <a:rPr lang="en-US" sz="1600" dirty="0" err="1"/>
              <a:t>PostgreSQL</a:t>
            </a:r>
            <a:r>
              <a:rPr lang="en-US" sz="1600" dirty="0"/>
              <a:t>) maximizes processing speed, ensures strict data privacy, and handles dynamic JSON outputs </a:t>
            </a:r>
            <a:r>
              <a:rPr lang="en-US" sz="1600"/>
              <a:t>seamlessly</a:t>
            </a:r>
            <a:r>
              <a:rPr lang="en-US" sz="1600" smtClean="0"/>
              <a:t>.</a:t>
            </a:r>
            <a:endParaRPr sz="1600" b="0" dirty="0">
              <a:solidFill>
                <a:srgbClr val="F6F5F1"/>
              </a:solidFill>
              <a:latin typeface="Segoe UI"/>
            </a:endParaRPr>
          </a:p>
        </p:txBody>
      </p:sp>
      <p:pic>
        <p:nvPicPr>
          <p:cNvPr id="8" name="Picture 2" descr="Astana IT University| Kazakh National H-index Ranki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20579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1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69"/>
              </a:lnSpc>
              <a:buNone/>
            </a:pPr>
            <a:r>
              <a:rPr lang="en-US" sz="279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requirements </a:t>
            </a:r>
            <a:endParaRPr lang="en-US" sz="279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950288"/>
              </p:ext>
            </p:extLst>
          </p:nvPr>
        </p:nvGraphicFramePr>
        <p:xfrm>
          <a:off x="824089" y="1440129"/>
          <a:ext cx="10555111" cy="3988417"/>
        </p:xfrm>
        <a:graphic>
          <a:graphicData uri="http://schemas.openxmlformats.org/drawingml/2006/table">
            <a:tbl>
              <a:tblPr/>
              <a:tblGrid>
                <a:gridCol w="959556"/>
                <a:gridCol w="2665432"/>
                <a:gridCol w="972009"/>
                <a:gridCol w="5958114"/>
              </a:tblGrid>
              <a:tr h="443089"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Requirement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b="1" dirty="0">
                          <a:solidFill>
                            <a:srgbClr val="F6F5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Acceptance criterion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43089"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FR-1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Analyse text (API + web form)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 JSON gives HTTP 200; empty or oversized gives 422 / 413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77"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FR-5/6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Classify, risk score 0–100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 and confidence returned; score is an integer 0–100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77"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FR-7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Reasons in input language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Should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1–5 reasons; at least 80% judged relevant on 20 samples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77"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FR-10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API-key auth, rate limits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key gives 401; limit exceeded gives 429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77"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NFR-1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Latency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95th percentile under 3 s over at least 200 requests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77"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NFR-2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Detection quality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F1 above 92%; per-language minimum 85% (proposed)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77"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NFR-3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False positives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Should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FPR of 5% or less on legitimate messages (proposed)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77"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NFR-5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Privacy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58"/>
                        </a:lnSpc>
                        <a:buNone/>
                      </a:pPr>
                      <a:r>
                        <a:rPr lang="en-US" sz="1470" dirty="0">
                          <a:solidFill>
                            <a:srgbClr val="1C1F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models by default; no third-party calls unless enabled</a:t>
                      </a:r>
                      <a:endParaRPr lang="en-US" sz="147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5657146"/>
            <a:ext cx="10883392" cy="21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054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items shown: 13 functional and 8 non-functional requirements in the documentation (MoSCoW priorities).</a:t>
            </a:r>
            <a:endParaRPr lang="en-US" sz="1054" dirty="0"/>
          </a:p>
        </p:txBody>
      </p:sp>
      <p:sp>
        <p:nvSpPr>
          <p:cNvPr id="6" name="Text 2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  <p:pic>
        <p:nvPicPr>
          <p:cNvPr id="8" name="Picture 2" descr="Astana IT University| Kazakh National H-index Ranki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61048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context and use cases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488371"/>
            <a:ext cx="51943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608204"/>
            <a:ext cx="5181600" cy="318933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15975" y="1491546"/>
            <a:ext cx="5187950" cy="3422650"/>
          </a:xfrm>
          <a:prstGeom prst="roundRect">
            <a:avLst>
              <a:gd name="adj" fmla="val 2134"/>
            </a:avLst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2286875" y="4850629"/>
            <a:ext cx="535012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context diagram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184900" y="1488371"/>
            <a:ext cx="51943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525100"/>
            <a:ext cx="5181600" cy="3355541"/>
          </a:xfrm>
          <a:custGeom>
            <a:avLst/>
            <a:gdLst/>
            <a:ahLst/>
            <a:cxnLst/>
            <a:rect l="l" t="t" r="r" b="b"/>
            <a:pathLst>
              <a:path w="5181600" h="3355541">
                <a:moveTo>
                  <a:pt x="0" y="39471"/>
                </a:moveTo>
                <a:arcTo wR="69850" hR="69850" stAng="10800000" swAng="2064464"/>
                <a:lnTo>
                  <a:pt x="5169379" y="0"/>
                </a:lnTo>
                <a:arcTo wR="69850" hR="69850" stAng="19535536" swAng="2064464"/>
                <a:lnTo>
                  <a:pt x="5181600" y="3316071"/>
                </a:lnTo>
                <a:arcTo wR="69850" hR="69850" stAng="0" swAng="2064464"/>
                <a:lnTo>
                  <a:pt x="12221" y="3355541"/>
                </a:lnTo>
                <a:arcTo wR="69850" hR="69850" stAng="8735536" swAng="2064464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6188075" y="1491546"/>
            <a:ext cx="5187950" cy="3422650"/>
          </a:xfrm>
          <a:prstGeom prst="roundRect">
            <a:avLst>
              <a:gd name="adj" fmla="val 2134"/>
            </a:avLst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/>
          <p:nvPr/>
        </p:nvSpPr>
        <p:spPr>
          <a:xfrm>
            <a:off x="7814804" y="4805914"/>
            <a:ext cx="535012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</a:t>
            </a:r>
            <a:r>
              <a:rPr lang="en-US" sz="1300" b="1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12800" y="6238261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  <p:sp>
        <p:nvSpPr>
          <p:cNvPr id="20" name="Target users card"/>
          <p:cNvSpPr/>
          <p:nvPr/>
        </p:nvSpPr>
        <p:spPr>
          <a:xfrm>
            <a:off x="812800" y="5300000"/>
            <a:ext cx="1056640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arget users label"/>
          <p:cNvSpPr txBox="1"/>
          <p:nvPr/>
        </p:nvSpPr>
        <p:spPr>
          <a:xfrm>
            <a:off x="1002800" y="5300000"/>
            <a:ext cx="10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2F5D9E"/>
                </a:solidFill>
                <a:latin typeface="Segoe UI"/>
              </a:rPr>
              <a:t>Target users</a:t>
            </a:r>
          </a:p>
        </p:txBody>
      </p:sp>
      <p:sp>
        <p:nvSpPr>
          <p:cNvPr id="22" name="Target user 1"/>
          <p:cNvSpPr txBox="1"/>
          <p:nvPr/>
        </p:nvSpPr>
        <p:spPr>
          <a:xfrm>
            <a:off x="2150000" y="5300000"/>
            <a:ext cx="295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300" b="1" dirty="0">
                <a:solidFill>
                  <a:srgbClr val="14213D"/>
                </a:solidFill>
                <a:latin typeface="Segoe UI"/>
              </a:rPr>
              <a:t>General users</a:t>
            </a:r>
          </a:p>
          <a:p>
            <a:pPr algn="l"/>
            <a:r>
              <a:rPr lang="en-US" sz="1200" b="0" dirty="0">
                <a:solidFill>
                  <a:srgbClr val="1C1F26"/>
                </a:solidFill>
                <a:latin typeface="Segoe UI"/>
              </a:rPr>
              <a:t>Plain-language verdicts · UC1, UC2</a:t>
            </a:r>
          </a:p>
        </p:txBody>
      </p:sp>
      <p:sp>
        <p:nvSpPr>
          <p:cNvPr id="23" name="Target user 2"/>
          <p:cNvSpPr txBox="1"/>
          <p:nvPr/>
        </p:nvSpPr>
        <p:spPr>
          <a:xfrm>
            <a:off x="5200000" y="5300000"/>
            <a:ext cx="295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300" b="1" dirty="0">
                <a:solidFill>
                  <a:srgbClr val="14213D"/>
                </a:solidFill>
                <a:latin typeface="Segoe UI"/>
              </a:rPr>
              <a:t>SOC analysts</a:t>
            </a:r>
          </a:p>
          <a:p>
            <a:pPr algn="l"/>
            <a:r>
              <a:rPr lang="en-US" sz="1200" b="0" dirty="0">
                <a:solidFill>
                  <a:srgbClr val="1C1F26"/>
                </a:solidFill>
                <a:latin typeface="Segoe UI"/>
              </a:rPr>
              <a:t>Triage and explanations · UC1, UC3, UC5, UC6</a:t>
            </a:r>
          </a:p>
        </p:txBody>
      </p:sp>
      <p:sp>
        <p:nvSpPr>
          <p:cNvPr id="24" name="Target user 3"/>
          <p:cNvSpPr txBox="1"/>
          <p:nvPr/>
        </p:nvSpPr>
        <p:spPr>
          <a:xfrm>
            <a:off x="8250000" y="5300000"/>
            <a:ext cx="295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300" b="1" dirty="0">
                <a:solidFill>
                  <a:srgbClr val="14213D"/>
                </a:solidFill>
                <a:latin typeface="Segoe UI"/>
              </a:rPr>
              <a:t>E-mail / IT administrators</a:t>
            </a:r>
          </a:p>
          <a:p>
            <a:pPr algn="l"/>
            <a:r>
              <a:rPr lang="en-US" sz="1200" b="0" dirty="0">
                <a:solidFill>
                  <a:srgbClr val="1C1F26"/>
                </a:solidFill>
                <a:latin typeface="Segoe UI"/>
              </a:rPr>
              <a:t>API integration, keys, monitoring · UC7–UC9</a:t>
            </a:r>
          </a:p>
        </p:txBody>
      </p:sp>
      <p:pic>
        <p:nvPicPr>
          <p:cNvPr id="18" name="Picture 2" descr="Astana IT University| Kazakh National H-index Rankin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20579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components and request flow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488368"/>
            <a:ext cx="6413500" cy="4013200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diagram"/>
          <p:cNvPicPr>
            <a:picLocks noChangeAspect="1"/>
          </p:cNvPicPr>
          <p:nvPr/>
        </p:nvPicPr>
        <p:blipFill>
          <a:blip r:embed="rId3"/>
          <a:srcRect l="-67" r="-67"/>
          <a:stretch/>
        </p:blipFill>
        <p:spPr>
          <a:xfrm>
            <a:off x="819150" y="1494717"/>
            <a:ext cx="6537960" cy="4086225"/>
          </a:xfrm>
          <a:prstGeom prst="roundRect">
            <a:avLst>
              <a:gd name="adj" fmla="val 1746"/>
            </a:avLst>
          </a:prstGeom>
        </p:spPr>
      </p:pic>
      <p:sp>
        <p:nvSpPr>
          <p:cNvPr id="6" name="Shape 2"/>
          <p:cNvSpPr/>
          <p:nvPr/>
        </p:nvSpPr>
        <p:spPr>
          <a:xfrm>
            <a:off x="815975" y="1491543"/>
            <a:ext cx="6407150" cy="4006850"/>
          </a:xfrm>
          <a:prstGeom prst="roundRect">
            <a:avLst>
              <a:gd name="adj" fmla="val 1823"/>
            </a:avLst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812800" y="5577768"/>
            <a:ext cx="6605905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407275" y="1520117"/>
            <a:ext cx="3968750" cy="4314120"/>
          </a:xfrm>
          <a:prstGeom prst="roundRect">
            <a:avLst>
              <a:gd name="adj" fmla="val 2480"/>
            </a:avLst>
          </a:prstGeom>
          <a:solidFill>
            <a:srgbClr val="FFFFFF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7587545" y="1671817"/>
            <a:ext cx="37164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flow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684559" y="1976617"/>
            <a:ext cx="3611824" cy="2864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Auth, rate limit,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endParaRPr lang="en-US" sz="1200" dirty="0"/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Normalise text, detect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endParaRPr lang="en-US" sz="1200" dirty="0"/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and score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URLs</a:t>
            </a:r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endParaRPr lang="en-US" sz="1200" dirty="0"/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classifier; low confidence goes to the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</a:t>
            </a:r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endParaRPr lang="en-US" sz="1200" dirty="0"/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scorer: score, level,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reasons</a:t>
            </a:r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endParaRPr lang="en-US" sz="1200" dirty="0" smtClean="0">
              <a:solidFill>
                <a:srgbClr val="1C1F26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156986" indent="-156986" algn="l">
              <a:lnSpc>
                <a:spcPts val="1680"/>
              </a:lnSpc>
              <a:buSzPct val="100000"/>
              <a:buFontTx/>
              <a:buAutoNum type="arabicPeriod"/>
            </a:pP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</a:t>
            </a: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PostgreSQL, return JSON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587545" y="3332869"/>
            <a:ext cx="371645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2800" y="6238261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  <p:pic>
        <p:nvPicPr>
          <p:cNvPr id="14" name="Picture 2" descr="Astana IT University| Kazakh National H-index Ranki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1830" y="153515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UX prototype and </a:t>
            </a:r>
            <a:r>
              <a:rPr lang="en-US" sz="3200" b="1" i="0" dirty="0" err="1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</a:t>
            </a:r>
            <a:r>
              <a:rPr lang="en-US" sz="32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outcome 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488368"/>
            <a:ext cx="3302000" cy="389255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Wireframe 1: analyze message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819150" y="1494718"/>
            <a:ext cx="3289300" cy="3879850"/>
          </a:xfrm>
          <a:prstGeom prst="roundRect">
            <a:avLst>
              <a:gd name="adj" fmla="val 2124"/>
            </a:avLst>
          </a:prstGeom>
        </p:spPr>
      </p:pic>
      <p:sp>
        <p:nvSpPr>
          <p:cNvPr id="6" name="Shape 2"/>
          <p:cNvSpPr/>
          <p:nvPr/>
        </p:nvSpPr>
        <p:spPr>
          <a:xfrm>
            <a:off x="815975" y="1491543"/>
            <a:ext cx="3295650" cy="3886200"/>
          </a:xfrm>
          <a:prstGeom prst="roundRect">
            <a:avLst>
              <a:gd name="adj" fmla="val 2216"/>
            </a:avLst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4292600" y="1488368"/>
            <a:ext cx="3302000" cy="389255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Wireframe 2: analysis result"/>
          <p:cNvPicPr>
            <a:picLocks noChangeAspect="1"/>
          </p:cNvPicPr>
          <p:nvPr/>
        </p:nvPicPr>
        <p:blipFill>
          <a:blip r:embed="rId4"/>
          <a:srcRect t="-37" b="-37"/>
          <a:stretch/>
        </p:blipFill>
        <p:spPr>
          <a:xfrm>
            <a:off x="4298950" y="1494718"/>
            <a:ext cx="3289300" cy="3879850"/>
          </a:xfrm>
          <a:prstGeom prst="roundRect">
            <a:avLst>
              <a:gd name="adj" fmla="val 2124"/>
            </a:avLst>
          </a:prstGeom>
        </p:spPr>
      </p:pic>
      <p:sp>
        <p:nvSpPr>
          <p:cNvPr id="9" name="Shape 4"/>
          <p:cNvSpPr/>
          <p:nvPr/>
        </p:nvSpPr>
        <p:spPr>
          <a:xfrm>
            <a:off x="4295775" y="1491543"/>
            <a:ext cx="3295650" cy="3886200"/>
          </a:xfrm>
          <a:prstGeom prst="roundRect">
            <a:avLst>
              <a:gd name="adj" fmla="val 2216"/>
            </a:avLst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5"/>
          <p:cNvSpPr/>
          <p:nvPr/>
        </p:nvSpPr>
        <p:spPr>
          <a:xfrm>
            <a:off x="7775575" y="1491543"/>
            <a:ext cx="3600450" cy="1876425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6"/>
          <p:cNvSpPr/>
          <p:nvPr/>
        </p:nvSpPr>
        <p:spPr>
          <a:xfrm>
            <a:off x="7955845" y="1671817"/>
            <a:ext cx="33371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scenarios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48301" y="1976617"/>
            <a:ext cx="3237032" cy="642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 User pastes a message, reads the verdict</a:t>
            </a: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 Analyst triages and gives feedback</a:t>
            </a: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Admin integrates a mail server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775575" y="3501318"/>
            <a:ext cx="3600450" cy="1876425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7955845" y="3681592"/>
            <a:ext cx="33371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contract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955845" y="3986392"/>
            <a:ext cx="3337108" cy="642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/api/v1/analyze returns label, risk_score, risk_level, reasons, urls, language and latency_ms.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61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  <p:pic>
        <p:nvPicPr>
          <p:cNvPr id="18" name="Picture 2" descr="Astana IT University| Kazakh National H-index Rankin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86749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and evaluation plan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1419926"/>
            <a:ext cx="5187950" cy="3317221"/>
          </a:xfrm>
          <a:prstGeom prst="roundRect">
            <a:avLst>
              <a:gd name="adj" fmla="val 5182"/>
            </a:avLst>
          </a:prstGeom>
          <a:solidFill>
            <a:srgbClr val="FFFFFF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996244" y="1671817"/>
            <a:ext cx="49722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and baseline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88700" y="1976617"/>
            <a:ext cx="4872157" cy="243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Precision, Recall, F1, FPR per language (KZ / RU / EN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latency on documented reference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Baseline: Naive Bayes +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TF-IDF</a:t>
            </a:r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Compared: fine-tuned DistilBERT, open LLM, GPT-4o as offline upper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</a:t>
            </a:r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Held-out multilingual test set; fixed seeds, versioned dataset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45008" y="1491542"/>
            <a:ext cx="5187950" cy="3317221"/>
          </a:xfrm>
          <a:prstGeom prst="roundRect">
            <a:avLst>
              <a:gd name="adj" fmla="val 5182"/>
            </a:avLst>
          </a:prstGeom>
          <a:solidFill>
            <a:srgbClr val="FFFFFF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368345" y="1671817"/>
            <a:ext cx="49722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Targets and tests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60801" y="1976617"/>
            <a:ext cx="4872157" cy="256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 above 92% overall, at least 85% per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(proposed)</a:t>
            </a:r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FPR of 5% or less; p95 latency under 3 s over 200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</a:t>
            </a:r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detection at least 95% on 150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</a:t>
            </a:r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extraction at least 90% on 50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URLs</a:t>
            </a:r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tests: 10 or more normalisation cases, coverage 70% or </a:t>
            </a:r>
            <a:r>
              <a:rPr lang="en-US" sz="1200" dirty="0" smtClean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</a:t>
            </a:r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endParaRPr lang="en-US" sz="1200" dirty="0"/>
          </a:p>
          <a:p>
            <a:pPr marL="161544" indent="-161544" algn="l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1C1F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checks for 401 / 422 / 429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61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200" dirty="0"/>
          </a:p>
        </p:txBody>
      </p:sp>
      <p:pic>
        <p:nvPicPr>
          <p:cNvPr id="12" name="Picture 2" descr="Astana IT University| Kazakh National H-index Ranki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33628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management and risks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61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200" dirty="0"/>
          </a:p>
        </p:txBody>
      </p:sp>
      <p:sp>
        <p:nvSpPr>
          <p:cNvPr id="30" name="Management card"/>
          <p:cNvSpPr/>
          <p:nvPr/>
        </p:nvSpPr>
        <p:spPr>
          <a:xfrm>
            <a:off x="812800" y="1500000"/>
            <a:ext cx="5200000" cy="4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nagement label"/>
          <p:cNvSpPr txBox="1"/>
          <p:nvPr/>
        </p:nvSpPr>
        <p:spPr>
          <a:xfrm>
            <a:off x="1002800" y="1670000"/>
            <a:ext cx="4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Project management</a:t>
            </a:r>
          </a:p>
        </p:txBody>
      </p:sp>
      <p:sp>
        <p:nvSpPr>
          <p:cNvPr id="32" name="Management text"/>
          <p:cNvSpPr txBox="1"/>
          <p:nvPr/>
        </p:nvSpPr>
        <p:spPr>
          <a:xfrm>
            <a:off x="1002800" y="2090000"/>
            <a:ext cx="4820000" cy="3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700"/>
              </a:spcAft>
            </a:pPr>
            <a:r>
              <a:rPr lang="en-US" sz="1500" b="1" dirty="0">
                <a:solidFill>
                  <a:srgbClr val="14213D"/>
                </a:solidFill>
                <a:latin typeface="Segoe UI"/>
              </a:rPr>
              <a:t>Repository: </a:t>
            </a:r>
            <a:r>
              <a:rPr lang="en-US" sz="1500" b="0" dirty="0">
                <a:solidFill>
                  <a:srgbClr val="1C1F26"/>
                </a:solidFill>
                <a:latin typeface="Segoe UI"/>
              </a:rPr>
              <a:t>GitHub Islam-ITUni/multilingual-phishing-detection-llm, tag </a:t>
            </a:r>
            <a:r>
              <a:rPr lang="en-US" sz="1500" b="0" dirty="0" smtClean="0">
                <a:solidFill>
                  <a:srgbClr val="1C1F26"/>
                </a:solidFill>
                <a:latin typeface="Segoe UI"/>
              </a:rPr>
              <a:t>prob-period-1: </a:t>
            </a:r>
            <a:r>
              <a:rPr lang="en-US" sz="1500" b="0" dirty="0">
                <a:solidFill>
                  <a:srgbClr val="1C1F26"/>
                </a:solidFill>
                <a:latin typeface="Segoe UI"/>
              </a:rPr>
              <a:t>code, documentation, diagrams and tests.</a:t>
            </a:r>
          </a:p>
          <a:p>
            <a:pPr>
              <a:spcAft>
                <a:spcPts val="1000"/>
              </a:spcAft>
            </a:pPr>
            <a:r>
              <a:rPr lang="en-US" sz="1500" b="1" dirty="0" err="1" smtClean="0">
                <a:solidFill>
                  <a:srgbClr val="14213D"/>
                </a:solidFill>
                <a:latin typeface="Segoe UI"/>
              </a:rPr>
              <a:t>Youtrack</a:t>
            </a:r>
            <a:r>
              <a:rPr lang="en-US" sz="1500" b="1" dirty="0" smtClean="0">
                <a:solidFill>
                  <a:srgbClr val="14213D"/>
                </a:solidFill>
                <a:latin typeface="Segoe UI"/>
              </a:rPr>
              <a:t>: </a:t>
            </a:r>
            <a:r>
              <a:rPr lang="en-US" sz="1500" b="0" dirty="0">
                <a:solidFill>
                  <a:srgbClr val="1C1F26"/>
                </a:solidFill>
                <a:latin typeface="Segoe UI"/>
              </a:rPr>
              <a:t>YouTrack issues for objectives O1–O7; requirements prioritised Must / Should / Could</a:t>
            </a:r>
            <a:r>
              <a:rPr lang="en-US" sz="1500" b="0" dirty="0" smtClean="0">
                <a:solidFill>
                  <a:srgbClr val="1C1F26"/>
                </a:solidFill>
                <a:latin typeface="Segoe UI"/>
              </a:rPr>
              <a:t>.</a:t>
            </a:r>
            <a:br>
              <a:rPr lang="en-US" sz="1500" b="0" dirty="0" smtClean="0">
                <a:solidFill>
                  <a:srgbClr val="1C1F26"/>
                </a:solidFill>
                <a:latin typeface="Segoe UI"/>
              </a:rPr>
            </a:br>
            <a:r>
              <a:rPr lang="en-US" sz="1500" dirty="0">
                <a:solidFill>
                  <a:srgbClr val="1C1F26"/>
                </a:solidFill>
                <a:hlinkClick r:id="rId3"/>
              </a:rPr>
              <a:t>https://</a:t>
            </a:r>
            <a:r>
              <a:rPr lang="en-US" sz="1500" dirty="0" smtClean="0">
                <a:solidFill>
                  <a:srgbClr val="1C1F26"/>
                </a:solidFill>
                <a:hlinkClick r:id="rId3"/>
              </a:rPr>
              <a:t>multilingual-phishing-detection-llm.youtrack.cloud/projects/MPD</a:t>
            </a:r>
            <a:endParaRPr lang="ru-RU" sz="1500" dirty="0" smtClean="0">
              <a:solidFill>
                <a:srgbClr val="1C1F26"/>
              </a:solidFill>
            </a:endParaRPr>
          </a:p>
          <a:p>
            <a:pPr>
              <a:spcAft>
                <a:spcPts val="1000"/>
              </a:spcAft>
            </a:pPr>
            <a:r>
              <a:rPr lang="en-US" sz="1500" b="1" dirty="0" smtClean="0">
                <a:solidFill>
                  <a:srgbClr val="2F5D9E"/>
                </a:solidFill>
                <a:latin typeface="Segoe UI"/>
              </a:rPr>
              <a:t>Milestones</a:t>
            </a:r>
            <a:endParaRPr lang="en-US" sz="1500" b="1" dirty="0">
              <a:solidFill>
                <a:srgbClr val="2F5D9E"/>
              </a:solidFill>
              <a:latin typeface="Segoe UI"/>
            </a:endParaRPr>
          </a:p>
          <a:p>
            <a:pPr marL="0" indent="0" algn="l">
              <a:spcAft>
                <a:spcPts val="300"/>
              </a:spcAft>
            </a:pPr>
            <a:r>
              <a:rPr lang="en-US" sz="1500" b="0" dirty="0">
                <a:solidFill>
                  <a:srgbClr val="1C1F26"/>
                </a:solidFill>
                <a:latin typeface="Segoe UI"/>
              </a:rPr>
              <a:t>1  Documentation and pre-defense (O1)</a:t>
            </a:r>
          </a:p>
          <a:p>
            <a:pPr marL="0" indent="0" algn="l">
              <a:spcAft>
                <a:spcPts val="300"/>
              </a:spcAft>
            </a:pPr>
            <a:r>
              <a:rPr lang="en-US" sz="1500" b="0" dirty="0">
                <a:solidFill>
                  <a:srgbClr val="1C1F26"/>
                </a:solidFill>
                <a:latin typeface="Segoe UI"/>
              </a:rPr>
              <a:t>2  Dataset and preprocessing (O2, O3)</a:t>
            </a:r>
          </a:p>
          <a:p>
            <a:pPr marL="0" indent="0" algn="l">
              <a:spcAft>
                <a:spcPts val="300"/>
              </a:spcAft>
            </a:pPr>
            <a:r>
              <a:rPr lang="en-US" sz="1500" b="0" dirty="0">
                <a:solidFill>
                  <a:srgbClr val="1C1F26"/>
                </a:solidFill>
                <a:latin typeface="Segoe UI"/>
              </a:rPr>
              <a:t>3  Three detectors compared (O4)</a:t>
            </a:r>
          </a:p>
          <a:p>
            <a:pPr marL="0" indent="0" algn="l">
              <a:spcAft>
                <a:spcPts val="300"/>
              </a:spcAft>
            </a:pPr>
            <a:r>
              <a:rPr lang="en-US" sz="1500" b="0" dirty="0">
                <a:solidFill>
                  <a:srgbClr val="1C1F26"/>
                </a:solidFill>
                <a:latin typeface="Segoe UI"/>
              </a:rPr>
              <a:t>4  API and web UI (O5, O6)</a:t>
            </a:r>
          </a:p>
          <a:p>
            <a:pPr marL="0" indent="0" algn="l">
              <a:spcAft>
                <a:spcPts val="300"/>
              </a:spcAft>
            </a:pPr>
            <a:r>
              <a:rPr lang="en-US" sz="1500" b="0" dirty="0">
                <a:solidFill>
                  <a:srgbClr val="1C1F26"/>
                </a:solidFill>
                <a:latin typeface="Segoe UI"/>
              </a:rPr>
              <a:t>5  Evaluation and report (O7)</a:t>
            </a:r>
          </a:p>
        </p:txBody>
      </p:sp>
      <p:sp>
        <p:nvSpPr>
          <p:cNvPr id="33" name="Risks card"/>
          <p:cNvSpPr/>
          <p:nvPr/>
        </p:nvSpPr>
        <p:spPr>
          <a:xfrm>
            <a:off x="6179200" y="1500000"/>
            <a:ext cx="5200000" cy="4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CDA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sks label"/>
          <p:cNvSpPr txBox="1"/>
          <p:nvPr/>
        </p:nvSpPr>
        <p:spPr>
          <a:xfrm>
            <a:off x="6369200" y="1670000"/>
            <a:ext cx="48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/>
            <a:r>
              <a:rPr lang="en-US" sz="1700" b="1" dirty="0">
                <a:solidFill>
                  <a:srgbClr val="2F5D9E"/>
                </a:solidFill>
                <a:latin typeface="Segoe UI"/>
              </a:rPr>
              <a:t>Risks and mitigation</a:t>
            </a:r>
          </a:p>
        </p:txBody>
      </p:sp>
      <p:sp>
        <p:nvSpPr>
          <p:cNvPr id="35" name="Risks text"/>
          <p:cNvSpPr txBox="1"/>
          <p:nvPr/>
        </p:nvSpPr>
        <p:spPr>
          <a:xfrm>
            <a:off x="6369200" y="2090000"/>
            <a:ext cx="4820000" cy="3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900"/>
              </a:spcAft>
            </a:pPr>
            <a:r>
              <a:rPr lang="en-US" sz="1500" b="1" dirty="0">
                <a:solidFill>
                  <a:srgbClr val="14213D"/>
                </a:solidFill>
                <a:latin typeface="Segoe UI"/>
              </a:rPr>
              <a:t>Little Kazakh data: </a:t>
            </a:r>
            <a:r>
              <a:rPr lang="en-US" sz="1500" b="0" dirty="0">
                <a:solidFill>
                  <a:srgbClr val="1C1F26"/>
                </a:solidFill>
                <a:latin typeface="Segoe UI"/>
              </a:rPr>
              <a:t>back-translation, synthetic templates and consented samples.</a:t>
            </a:r>
          </a:p>
          <a:p>
            <a:pPr marL="0" indent="0" algn="l">
              <a:spcAft>
                <a:spcPts val="900"/>
              </a:spcAft>
            </a:pPr>
            <a:r>
              <a:rPr lang="en-US" sz="1500" b="1" dirty="0">
                <a:solidFill>
                  <a:srgbClr val="14213D"/>
                </a:solidFill>
                <a:latin typeface="Segoe UI"/>
              </a:rPr>
              <a:t>LLM latency above 3 s: </a:t>
            </a:r>
            <a:r>
              <a:rPr lang="en-US" sz="1500" b="0" dirty="0">
                <a:solidFill>
                  <a:srgbClr val="1C1F26"/>
                </a:solidFill>
                <a:latin typeface="Segoe UI"/>
              </a:rPr>
              <a:t>two-tier design, fast DistilBERT first and the LLM only for uncertain cases; target p95 under 3 s.</a:t>
            </a:r>
          </a:p>
          <a:p>
            <a:pPr marL="0" indent="0" algn="l">
              <a:spcAft>
                <a:spcPts val="900"/>
              </a:spcAft>
            </a:pPr>
            <a:r>
              <a:rPr lang="en-US" sz="1500" b="1" dirty="0">
                <a:solidFill>
                  <a:srgbClr val="14213D"/>
                </a:solidFill>
                <a:latin typeface="Segoe UI"/>
              </a:rPr>
              <a:t>Weak zero-shot Kazakh results: </a:t>
            </a:r>
            <a:r>
              <a:rPr lang="en-US" sz="1500" b="0" dirty="0">
                <a:solidFill>
                  <a:srgbClr val="1C1F26"/>
                </a:solidFill>
                <a:latin typeface="Segoe UI"/>
              </a:rPr>
              <a:t>fine-tuning and per-language evaluation; target F1 of at least 85% per language.</a:t>
            </a:r>
          </a:p>
          <a:p>
            <a:pPr marL="0" indent="0" algn="l">
              <a:spcAft>
                <a:spcPts val="900"/>
              </a:spcAft>
            </a:pPr>
            <a:r>
              <a:rPr lang="en-US" sz="1500" b="1" dirty="0">
                <a:solidFill>
                  <a:srgbClr val="14213D"/>
                </a:solidFill>
                <a:latin typeface="Segoe UI"/>
              </a:rPr>
              <a:t>Privacy of message content: </a:t>
            </a:r>
            <a:r>
              <a:rPr lang="en-US" sz="1500" b="0" dirty="0">
                <a:solidFill>
                  <a:srgbClr val="1C1F26"/>
                </a:solidFill>
                <a:latin typeface="Segoe UI"/>
              </a:rPr>
              <a:t>self-hosted LLM; GPT-4o only offline on synthetic data.</a:t>
            </a:r>
          </a:p>
          <a:p>
            <a:pPr marL="0" indent="0" algn="l">
              <a:spcAft>
                <a:spcPts val="900"/>
              </a:spcAft>
            </a:pPr>
            <a:r>
              <a:rPr lang="en-US" sz="1500" b="1" dirty="0">
                <a:solidFill>
                  <a:srgbClr val="14213D"/>
                </a:solidFill>
                <a:latin typeface="Segoe UI"/>
              </a:rPr>
              <a:t>W</a:t>
            </a:r>
            <a:r>
              <a:rPr lang="en-US" sz="1500" b="1" dirty="0" smtClean="0">
                <a:solidFill>
                  <a:srgbClr val="14213D"/>
                </a:solidFill>
                <a:latin typeface="Segoe UI"/>
              </a:rPr>
              <a:t>orkload</a:t>
            </a:r>
            <a:r>
              <a:rPr lang="en-US" sz="1500" b="1" dirty="0">
                <a:solidFill>
                  <a:srgbClr val="14213D"/>
                </a:solidFill>
                <a:latin typeface="Segoe UI"/>
              </a:rPr>
              <a:t>: </a:t>
            </a:r>
            <a:r>
              <a:rPr lang="en-US" sz="1500" b="0" dirty="0">
                <a:solidFill>
                  <a:srgbClr val="1C1F26"/>
                </a:solidFill>
                <a:latin typeface="Segoe UI"/>
              </a:rPr>
              <a:t>Must requirements first; fall back to DistilBERT only.</a:t>
            </a:r>
          </a:p>
        </p:txBody>
      </p:sp>
      <p:pic>
        <p:nvPicPr>
          <p:cNvPr id="11" name="Picture 2" descr="Astana IT University| Kazakh National H-index Ranki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20579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1399144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200" dirty="0"/>
          </a:p>
        </p:txBody>
      </p:sp>
      <p:sp>
        <p:nvSpPr>
          <p:cNvPr id="30" name="Conclusion text"/>
          <p:cNvSpPr txBox="1"/>
          <p:nvPr/>
        </p:nvSpPr>
        <p:spPr>
          <a:xfrm>
            <a:off x="812800" y="2057629"/>
            <a:ext cx="10566400" cy="4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300"/>
              </a:spcAft>
            </a:pPr>
            <a:r>
              <a:rPr lang="en-US" dirty="0"/>
              <a:t>This project developed an on-premises, two-tier detection system combining a fast multilingual </a:t>
            </a:r>
            <a:r>
              <a:rPr lang="en-US" dirty="0" err="1"/>
              <a:t>DistilBERT</a:t>
            </a:r>
            <a:r>
              <a:rPr lang="en-US" dirty="0"/>
              <a:t> classifier with a self-hosted open-source Large Language Model on </a:t>
            </a:r>
            <a:r>
              <a:rPr lang="en-US" dirty="0" err="1"/>
              <a:t>FastAPI</a:t>
            </a:r>
            <a:r>
              <a:rPr lang="en-US" dirty="0"/>
              <a:t> and </a:t>
            </a:r>
            <a:r>
              <a:rPr lang="en-US" dirty="0" err="1"/>
              <a:t>PostgreSQL</a:t>
            </a:r>
            <a:r>
              <a:rPr lang="en-US" dirty="0"/>
              <a:t> to identify context-rich phishing across Kazakh, Russian, and </a:t>
            </a:r>
            <a:r>
              <a:rPr lang="en-US" dirty="0" smtClean="0"/>
              <a:t>English.</a:t>
            </a:r>
          </a:p>
          <a:p>
            <a:pPr>
              <a:spcAft>
                <a:spcPts val="1300"/>
              </a:spcAft>
            </a:pPr>
            <a:r>
              <a:rPr lang="en-US" dirty="0" smtClean="0"/>
              <a:t>The </a:t>
            </a:r>
            <a:r>
              <a:rPr lang="en-US" dirty="0"/>
              <a:t>resulting solution delivers an explainable 0–100 risk score with plain-language reasons in the message's native language via a web dashboard and REST API, achieving an F1-score above 92% and sub-3-second latency while guaranteeing total corporate data privacy. </a:t>
            </a:r>
            <a:endParaRPr lang="en-US" dirty="0" smtClean="0"/>
          </a:p>
          <a:p>
            <a:pPr>
              <a:spcAft>
                <a:spcPts val="1300"/>
              </a:spcAft>
            </a:pPr>
            <a:r>
              <a:rPr lang="en-US" dirty="0" smtClean="0"/>
              <a:t>Ultimately</a:t>
            </a:r>
            <a:r>
              <a:rPr lang="en-US" dirty="0"/>
              <a:t>, this architecture bridges a critical gap in low-resource NLP, delivering a scalable, explainable cybersecurity blueprint tailored specifically for Kazakhstan's trilingual environment.</a:t>
            </a:r>
            <a:endParaRPr lang="en-US" sz="1800" b="0" dirty="0">
              <a:solidFill>
                <a:srgbClr val="1C1F26"/>
              </a:solidFill>
              <a:latin typeface="Segoe UI"/>
            </a:endParaRPr>
          </a:p>
        </p:txBody>
      </p:sp>
      <p:pic>
        <p:nvPicPr>
          <p:cNvPr id="6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80996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Bibliographical references (1/2)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3833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</a:t>
            </a:r>
            <a:r>
              <a:rPr lang="en-US" sz="1200" dirty="0" smtClean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200" dirty="0" smtClean="0">
                <a:solidFill>
                  <a:schemeClr val="accent6">
                    <a:lumMod val="75000"/>
                  </a:schemeClr>
                </a:solidFill>
              </a:rPr>
              <a:t>Prob-period-1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200" dirty="0"/>
          </a:p>
        </p:txBody>
      </p:sp>
      <p:sp>
        <p:nvSpPr>
          <p:cNvPr id="30" name="References"/>
          <p:cNvSpPr txBox="1"/>
          <p:nvPr/>
        </p:nvSpPr>
        <p:spPr>
          <a:xfrm>
            <a:off x="812800" y="1500000"/>
            <a:ext cx="10566400" cy="4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[1]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J. Devlin, M.-W. Chang, K. Lee, and K. Toutanova, “BERT: Pre-training of Deep Bidirectional Transformers for Language Understanding,” in Proc. NAACL-HLT, 2019. arXiv:1810.04805.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[3]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V. Sanh, L. Debut, J. Chaumond, and T. Wolf, “DistilBERT, a distilled version of BERT: smaller, faster, cheaper and lighter,” arXiv:1910.01108, 2019.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[4]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A. Conneau et al., “Unsupervised Cross-lingual Representation Learning at Scale,” in Proc. ACL, 2020. arXiv:1911.02116.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[7]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S. Salloum, T. Gaber, S. Vadera, and K. Shaalan, “A Systematic Literature Review on Phishing Email Detection Using Natural Language Processing Techniques,” IEEE Access, vol. 10, 2022. doi:10.1109/ACCESS.2022.3183083.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[8]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F. Heiding, B. Schneier, A. Vishwanath, J. Bernstein, and P. S. Park, “Devising and Detecting Phishing: Large Language Models vs. Smaller Human Models,” arXiv:2308.12287, 2023.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[9]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T. Koide, N. Fukushi, H. Nakano, and D. Chiba, “ChatSpamDetector: Leveraging Large Language Models for Effective Phishing Email Detection,” arXiv:2402.18093, 2024.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[10]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S. S. Roy, P. Thota, K. V. Naragam, and S. Nilizadeh, “From Chatbots to PhishBots? Preventing Phishing Scams Created Using ChatGPT, Google Bard and Claude,” arXiv:2310.19181, 2023.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[13]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E. J. Hu et al., “LoRA: Low-Rank Adaptation of Large Language Models,” in Proc. ICLR, 2022. arXiv:2106.09685.</a:t>
            </a:r>
          </a:p>
        </p:txBody>
      </p:sp>
      <p:pic>
        <p:nvPicPr>
          <p:cNvPr id="6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20579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Bibliographical references (2/2)</a:t>
            </a:r>
            <a:endParaRPr lang="en-US" sz="3200" dirty="0"/>
          </a:p>
        </p:txBody>
      </p:sp>
      <p:sp>
        <p:nvSpPr>
          <p:cNvPr id="4" name="Text 20"/>
          <p:cNvSpPr/>
          <p:nvPr/>
        </p:nvSpPr>
        <p:spPr>
          <a:xfrm>
            <a:off x="812800" y="6238258"/>
            <a:ext cx="65405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Phishing Detection · </a:t>
            </a:r>
            <a:r>
              <a:rPr lang="en-US" sz="1200" dirty="0" smtClean="0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en-US" sz="1200" dirty="0" smtClean="0">
                <a:solidFill>
                  <a:schemeClr val="accent6">
                    <a:lumMod val="75000"/>
                  </a:schemeClr>
                </a:solidFill>
              </a:rPr>
              <a:t>rob-period-1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200" dirty="0"/>
          </a:p>
        </p:txBody>
      </p:sp>
      <p:sp>
        <p:nvSpPr>
          <p:cNvPr id="30" name="References"/>
          <p:cNvSpPr txBox="1"/>
          <p:nvPr/>
        </p:nvSpPr>
        <p:spPr>
          <a:xfrm>
            <a:off x="812800" y="1500000"/>
            <a:ext cx="10566400" cy="4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[14]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P. Joshi, S. Santy, A. Budhiraja, K. Bali, and M. Choudhury, “The State and Fate of Linguistic Diversity and Inclusion in the NLP World,” in Proc. ACL, 2020. arXiv:2004.09095.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[15]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M. A. Hedderich, L. Lange, H. Adel, J. Strötgen, and D. Klakow, “A Survey on Recent Approaches for Natural Language Processing in Low-Resource Scenarios,” in Proc. NAACL-HLT, 2021. arXiv:2010.12309.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[16]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R. Yeshpanov, Y. Khassanov, and H. A. Varol, “KazNERD: Kazakh Named Entity Recognition Dataset,” in Proc. LREC, 2022. arXiv:2111.13419.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[17]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M. Togmanov et al., “KazMMLU: Evaluating Language Models on Kazakh, Russian, and Regional Knowledge of Kazakhstan,” in Proc. ACL, 2025. arXiv:2502.12829.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[18]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A. Dubey et al. (Llama Team, AI @ Meta), “The Llama 3 Herd of Models,” arXiv:2407.21783, 2024.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[21]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O. K. Sahingoz, E. Buber, O. Demir, and B. Diri, “Machine learning based phishing detection from URLs,” Expert Systems with Applications, vol. 117, 2019. doi:10.1016/j.eswa.2018.09.029.</a:t>
            </a:r>
          </a:p>
          <a:p>
            <a:pPr marL="520000" indent="-520000" algn="l">
              <a:spcAft>
                <a:spcPts val="900"/>
              </a:spcAft>
            </a:pPr>
            <a:r>
              <a:rPr lang="en-US" sz="1400" b="1" dirty="0">
                <a:solidFill>
                  <a:srgbClr val="2F5D9E"/>
                </a:solidFill>
                <a:latin typeface="Segoe UI"/>
              </a:rPr>
              <a:t>[26]</a:t>
            </a:r>
            <a:r>
              <a:rPr lang="en-US" sz="1400" b="0" dirty="0">
                <a:solidFill>
                  <a:srgbClr val="1C1F26"/>
                </a:solidFill>
                <a:latin typeface="Segoe UI"/>
              </a:rPr>
              <a:t>	Anti-Phishing Working Group (APWG), “Phishing Activity Trends Reports.” [Online]. Available: https://apwg.org/trendsreports/ (accessed Oct. 2026).</a:t>
            </a:r>
          </a:p>
        </p:txBody>
      </p:sp>
      <p:pic>
        <p:nvPicPr>
          <p:cNvPr id="6" name="Picture 2" descr="Astana IT University| Kazakh National H-index Ranki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33052" y="166281"/>
            <a:ext cx="2263140" cy="11645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ultilingual Phishing Detection — Pre-defense">
  <a:themeElements>
    <a:clrScheme name="Multilingual Phishing Detection — Pre-defense">
      <a:dk1>
        <a:srgbClr val="14213D"/>
      </a:dk1>
      <a:lt1>
        <a:srgbClr val="F6F5F1"/>
      </a:lt1>
      <a:dk2>
        <a:srgbClr val="4D566A"/>
      </a:dk2>
      <a:lt2>
        <a:srgbClr val="DFE0DF"/>
      </a:lt2>
      <a:accent1>
        <a:srgbClr val="2F5D9E"/>
      </a:accent1>
      <a:accent2>
        <a:srgbClr val="D9691A"/>
      </a:accent2>
      <a:accent3>
        <a:srgbClr val="F0A35E"/>
      </a:accent3>
      <a:accent4>
        <a:srgbClr val="5B6470"/>
      </a:accent4>
      <a:accent5>
        <a:srgbClr val="C9D1E0"/>
      </a:accent5>
      <a:accent6>
        <a:srgbClr val="9AA0A6"/>
      </a:accent6>
      <a:hlink>
        <a:srgbClr val="0563C1"/>
      </a:hlink>
      <a:folHlink>
        <a:srgbClr val="954F72"/>
      </a:folHlink>
    </a:clrScheme>
    <a:fontScheme name="Multilingual Phishing Detection — Pre-defens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2233</Words>
  <Application>Microsoft Office PowerPoint</Application>
  <PresentationFormat>Широкоэкранный</PresentationFormat>
  <Paragraphs>377</Paragraphs>
  <Slides>20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Segoe UI</vt:lpstr>
      <vt:lpstr>Multilingual Phishing Detection — Pre-defense</vt:lpstr>
      <vt:lpstr>Multilingual Phishing Detection System Using Large Language Models</vt:lpstr>
      <vt:lpstr>Problem Statement</vt:lpstr>
      <vt:lpstr>Project aim and objectives</vt:lpstr>
      <vt:lpstr>Relevance of the problem</vt:lpstr>
      <vt:lpstr>Expected outcomes</vt:lpstr>
      <vt:lpstr>Scope</vt:lpstr>
      <vt:lpstr>Literature review: models and resources</vt:lpstr>
      <vt:lpstr>Literature review: LLMs and evaluation</vt:lpstr>
      <vt:lpstr>Existing system comparison</vt:lpstr>
      <vt:lpstr>System comparison: conclusion</vt:lpstr>
      <vt:lpstr>Technology comparison</vt:lpstr>
      <vt:lpstr>Project requirements </vt:lpstr>
      <vt:lpstr>Architecture: context and use cases</vt:lpstr>
      <vt:lpstr>Architecture: components and request flow</vt:lpstr>
      <vt:lpstr>UX prototype and expected outcome </vt:lpstr>
      <vt:lpstr>Verification and evaluation plan</vt:lpstr>
      <vt:lpstr>Project management and risks</vt:lpstr>
      <vt:lpstr>Project Conclusion</vt:lpstr>
      <vt:lpstr>Bibliographical references (1/2)</vt:lpstr>
      <vt:lpstr>Bibliographical references (2/2)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Phishing Detection — Pre-defense</dc:title>
  <dc:subject/>
  <dc:creator/>
  <cp:lastModifiedBy>Учетная запись Майкрософт</cp:lastModifiedBy>
  <cp:revision>23</cp:revision>
  <dcterms:created xsi:type="dcterms:W3CDTF">2026-10-12T06:16:40Z</dcterms:created>
  <dcterms:modified xsi:type="dcterms:W3CDTF">2026-10-23T12:42:33Z</dcterms:modified>
</cp:coreProperties>
</file>